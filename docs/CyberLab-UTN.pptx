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práctico ofensivo de Seguridad Informática. 10 laboratorios (4 de código, 6 ofensivos) más un práctico final integrador. Filosofía: conceptos antes que código, a mano antes que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alumno no instala herramientas: opera desde una consola atacante dockerizada. Las flags enganchan; el informe es lo que evalúa la rúbrica.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reglas son la columna vertebral pedagógica. La #2 explica por qué los agentes van al final: no podés dirigir un agente que hace lo que vos no sabés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laboratorios numerados (las '10 clases') más el práctico final. Las unidades 1-4 son de código; 5-10 ofensivas.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lab de código trae una implementación de referencia verificada (el reto XOR se rompe, el TOTP da el vector oficial del RFC 6238).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Recon, enumeración, explotación y post se hacen a mano. La unidad 9 los orquesta con un agente; la 10 muestra el lado del defensor.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motor ctf es autodescubrible: el alumno corre ./ctf y todo se explica solo, con ASCII art y barras de progreso.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Pivoting real: la red internalnet es 'internal: true' en Docker, así que el atacante no la alcanza. Se verifica en el E2E del lab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 agnóstico: el agente se acopla a una interfaz, no a un proveedor. Sin API key, el motor mock corre el loop de forma determinística.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detección por firmas es poderosa pero frágil: reconoce lo que ya conoce. El que entiende la firma la evade; el analista de logs encuentra lo que la firma no 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eslabón habilita el siguiente. El entregable estrella es el informe profesional, no las flags. Verificado E2E: cadena 4/4.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PhantomCorp da continuidad: cada lab es un capítulo del mismo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fork+PR y las rúbricas ya existían en el repo; el práctico ofensivo los preserva intactos.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100% verificado: cada lab ofensivo se probó E2E con Docker (5/5 flags)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ética es lo que separa al profesional. Práctico completo, verificado y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root@cyberlab:~# ./iniciar_practico.sh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pPr indent="0" marL="0">
              <a:buNone/>
            </a:pPr>
            <a:r>
              <a:rPr lang="en-US" sz="8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8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Práctico de Seguridad Informática. De la tríada CIA a los agentes autónomos —y de vuelta a la defensa. Diez laboratorios + un engagement final, todo con las manos en el teclado.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UTN · FRVM</a:t>
            </a:r>
            <a:pPr indent="0" marL="0">
              <a:buNone/>
            </a:pPr>
            <a:r>
              <a:rPr lang="en-US" sz="1300" dirty="0">
                <a:solidFill>
                  <a:srgbClr val="2C4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</a:t>
            </a:r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Informática</a:t>
            </a:r>
            <a:pPr indent="0" marL="0">
              <a:buNone/>
            </a:pPr>
            <a:r>
              <a:rPr lang="en-US" sz="1300" dirty="0">
                <a:solidFill>
                  <a:srgbClr val="2C4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</a:t>
            </a:r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pPr indent="0" marL="0">
              <a:buNone/>
            </a:pPr>
            <a:r>
              <a:rPr lang="en-US" sz="1300" dirty="0">
                <a:solidFill>
                  <a:srgbClr val="2C4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</a:t>
            </a:r>
            <a:pPr indent="0" marL="0">
              <a:buNone/>
            </a:pPr>
            <a:r>
              <a:rPr lang="en-US" sz="13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Ing. Fernando Boiero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aprende leyendo. Se aprende haciendo.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práctico y progresivo por la seguridad. Primero los fundamentos en código; después, herramientas reales contra objetivos vulnerables que se levantan solos en Docker.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02666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28269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 código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66744"/>
            <a:ext cx="32095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técnica se ejecuta a mano, tool por tool, clasificando y explicando cada escenario.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288036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302666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AUTODESCUBRIBLE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328269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levanta solo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3666744"/>
            <a:ext cx="32095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./ctf y el entorno arranca. Cero instalar en tu máquina: todo vive en contenedores.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288036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302666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PROGRESIVO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282696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de nivel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666744"/>
            <a:ext cx="311810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tríada CIA a agentes de IA y defensa. La dificultad y la autonomía crecen lab a lab.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Filosofía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reglas que no se negocian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7510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3113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antes que código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15184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entendés el porqué; después tocás la herramienta. Sin fundamentos, un scanner es ruido.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97510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23113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 antes que automático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73368" y="2615184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Recon, explotación y post — todo manual primero. Los agentes recién al final.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12394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37997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una herramienta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764024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acelera; no reemplaza tu criterio. El humano dirige, la máquina ejecuta.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412394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437997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atajos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73368" y="4764024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real lleva esfuerzo y tiempo. Nadie se hace pentester en dos horas.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programa · 10 labs +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pistas, un solo camino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· CÓDIGO (PYTHON)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Introducción — tríada CIA, hashing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Criptografía — romper cifrado, HMAC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Autenticación — PBKDF2, TOTP (2FA)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Marcos normativos — ISO/NIST, riesgo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OFENSIVA · DOCKER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231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Reconocimiento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Enumeración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Explotación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Post-explotación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Agentes de IA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Detección y evasión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400" i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 todo desemboca en el Práctico Final: un engagement completo con informe de pentest profesional.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Unidades 01–04 · fundamentos en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atacar, entender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208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CIA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7685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protegés?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60904"/>
            <a:ext cx="22494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Confidencialidad, integridad, disponibilidad. Verificación de integridad con hashes.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87452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208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CRIPTO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7685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(no) se usa?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60904"/>
            <a:ext cx="22494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Rompés un cifrado clásico por frecuencia; construís una MAC con HMAC.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20208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AUTH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27685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¿Sos quien decís?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660904"/>
            <a:ext cx="22494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PBKDF2 y salt; segundo factor TOTP, verificado contra el RFC.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87452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8864" y="20208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GESTIÓN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27685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números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660904"/>
            <a:ext cx="22494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NIST CSF y riesgo cuantitativo: priorizar por ALE, no por corazonada.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biblioteca estándar. Nada de 'instalar y que ande': entender y construir.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Unidades 05–10 · la cadena del ataque… y la defensa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engagement,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hilo narrativo —la auditoría de PhantomCorp— atraviesa las seis unidades. Cada lab continúa donde terminó el anterior.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Reconoc.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Enumerac.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3474720"/>
            <a:ext cx="182880" cy="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Explotac.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romper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3474720"/>
            <a:ext cx="182880" cy="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Post-expl.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9320" y="3474720"/>
            <a:ext cx="182880" cy="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B19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Agentes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orquestar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863840" y="3474720"/>
            <a:ext cx="182880" cy="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21240" y="2926080"/>
            <a:ext cx="1691640" cy="1097280"/>
          </a:xfrm>
          <a:prstGeom prst="roundRect">
            <a:avLst>
              <a:gd name="adj" fmla="val 9167"/>
            </a:avLst>
          </a:prstGeom>
          <a:solidFill>
            <a:srgbClr val="111A22"/>
          </a:solidFill>
          <a:ln w="1778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Defensa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evadir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738360" y="3474720"/>
            <a:ext cx="182880" cy="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 05 → 08          AGENTES  09          DEFENSA 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se juega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comando, y adentro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309360" cy="4114800"/>
          </a:xfrm>
          <a:prstGeom prst="roundRect">
            <a:avLst>
              <a:gd name="adj" fmla="val 1111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D141B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75104"/>
            <a:ext cx="109728" cy="109728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109728" cy="10972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75104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2295144"/>
            <a:ext cx="58704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lab 05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 LABORATORIO 05 · RECONOCIMIENTO ─┐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&gt;&gt; entorno arriba. entrá: make shell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shell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attacker:~$ nmap -Pn phantomcorp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21/tcp open ftp  ProFTPD 1.3.5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80/tcp open http PhantomServer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submit 05 R1 'FLAG{...}'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★ FLAG CAPTURADA · +1 al score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1945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lab esconde flags en los servicios del objetivo.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descubrís operando las tools, no leyendo un PDF.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entregás con ./ctf submit y llevás tu progreso.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46634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flags te enganchan.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es lo que evalúa la rúbrica.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05–08 · a mano, siempre primero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pentest, sin atajos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93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Reconocimiento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banners, headers, robots. Mapear y clasificar la superficie.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93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Enumeración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86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dirb, whatweb, .git expuesto, métodos HTTP, APIs.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838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Explotación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real (sqlite + sqlmap), inyección de comandos, path traversal, IDOR.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337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34838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Post-explotación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por SUID, pivoting a red interna, automatización.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PIVOTING · redes segmentadas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0C1218"/>
          </a:solidFill>
          <a:ln w="12700">
            <a:solidFill>
              <a:srgbClr val="2C404C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4652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22860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C1218"/>
          </a:solidFill>
          <a:ln w="12700">
            <a:solidFill>
              <a:srgbClr val="4CC9F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05840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internalnet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46520" y="2788920"/>
            <a:ext cx="1417320" cy="777240"/>
          </a:xfrm>
          <a:prstGeom prst="roundRect">
            <a:avLst>
              <a:gd name="adj" fmla="val 12941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29032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1958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consola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75320" y="2788920"/>
            <a:ext cx="1417320" cy="777240"/>
          </a:xfrm>
          <a:prstGeom prst="roundRect">
            <a:avLst>
              <a:gd name="adj" fmla="val 12941"/>
            </a:avLst>
          </a:prstGeom>
          <a:solidFill>
            <a:srgbClr val="111A22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29032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1958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redes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04120" y="2788920"/>
            <a:ext cx="1417320" cy="777240"/>
          </a:xfrm>
          <a:prstGeom prst="roundRect">
            <a:avLst>
              <a:gd name="adj" fmla="val 12941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04120" y="29032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interna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104120" y="31958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63840" y="3172968"/>
            <a:ext cx="365760" cy="0"/>
          </a:xfrm>
          <a:prstGeom prst="line">
            <a:avLst/>
          </a:prstGeom>
          <a:noFill/>
          <a:ln w="1905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406640" y="2862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92640" y="3172968"/>
            <a:ext cx="411480" cy="0"/>
          </a:xfrm>
          <a:prstGeom prst="line">
            <a:avLst/>
          </a:prstGeom>
          <a:noFill/>
          <a:ln w="1905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9235440" y="28620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32320" y="3566160"/>
            <a:ext cx="0" cy="640080"/>
          </a:xfrm>
          <a:prstGeom prst="line">
            <a:avLst/>
          </a:prstGeom>
          <a:noFill/>
          <a:ln w="17780">
            <a:solidFill>
              <a:srgbClr val="E0645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132320" y="4206240"/>
            <a:ext cx="3703320" cy="0"/>
          </a:xfrm>
          <a:prstGeom prst="line">
            <a:avLst/>
          </a:prstGeom>
          <a:noFill/>
          <a:ln w="17780">
            <a:solidFill>
              <a:srgbClr val="E0645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835640" y="4206240"/>
            <a:ext cx="0" cy="-594360"/>
          </a:xfrm>
          <a:prstGeom prst="line">
            <a:avLst/>
          </a:prstGeom>
          <a:noFill/>
          <a:ln w="17780">
            <a:solidFill>
              <a:srgbClr val="E0645B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40080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sin ruta directa — segmentado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663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no llega a la DB. La víctima vive en las dos redes: comprometerla es el trampolín.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Unidad 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pentest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no es magia: es un loop de tool-use. El LLM razona; tu código pone las manos (tools) y los guardrails.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agnóstico: Claude · OpenAI · mock offline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 alcance: el agente no sale del scope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Completás tu propio agente y lo auditás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1600200" cy="822960"/>
          </a:xfrm>
          <a:prstGeom prst="roundRect">
            <a:avLst>
              <a:gd name="adj" fmla="val 12222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razona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6243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tool?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75320" y="2194560"/>
            <a:ext cx="1600200" cy="822960"/>
          </a:xfrm>
          <a:prstGeom prst="roundRect">
            <a:avLst>
              <a:gd name="adj" fmla="val 12222"/>
            </a:avLst>
          </a:prstGeom>
          <a:solidFill>
            <a:srgbClr val="111A22"/>
          </a:solidFill>
          <a:ln w="17780">
            <a:solidFill>
              <a:srgbClr val="B19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6243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¿alcance?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149840" y="2194560"/>
            <a:ext cx="1463040" cy="822960"/>
          </a:xfrm>
          <a:prstGeom prst="roundRect">
            <a:avLst>
              <a:gd name="adj" fmla="val 12222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624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nmap·curl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01000" y="2606040"/>
            <a:ext cx="274320" cy="0"/>
          </a:xfrm>
          <a:prstGeom prst="line">
            <a:avLst/>
          </a:prstGeom>
          <a:noFill/>
          <a:ln w="1905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543800" y="22951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875520" y="2606040"/>
            <a:ext cx="274320" cy="0"/>
          </a:xfrm>
          <a:prstGeom prst="line">
            <a:avLst/>
          </a:prstGeom>
          <a:noFill/>
          <a:ln w="1905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9418320" y="22951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34747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1B1A12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3017520"/>
            <a:ext cx="0" cy="457200"/>
          </a:xfrm>
          <a:prstGeom prst="line">
            <a:avLst/>
          </a:prstGeom>
          <a:noFill/>
          <a:ln w="16510">
            <a:solidFill>
              <a:srgbClr val="F0B42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275320" y="35935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BLOQUEA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881360" y="3017520"/>
            <a:ext cx="0" cy="1737360"/>
          </a:xfrm>
          <a:prstGeom prst="line">
            <a:avLst/>
          </a:prstGeom>
          <a:noFill/>
          <a:ln w="17780">
            <a:solidFill>
              <a:srgbClr val="39D9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754880"/>
            <a:ext cx="-3675888" cy="0"/>
          </a:xfrm>
          <a:prstGeom prst="line">
            <a:avLst/>
          </a:prstGeom>
          <a:noFill/>
          <a:ln w="17780">
            <a:solidFill>
              <a:srgbClr val="39D9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472" y="4754880"/>
            <a:ext cx="0" cy="-1691640"/>
          </a:xfrm>
          <a:prstGeom prst="line">
            <a:avLst/>
          </a:prstGeom>
          <a:noFill/>
          <a:ln w="1778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resultado vuelve al LLM → observa y decide el próximo paso ↺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937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offline con el motor mock: encuentra 5 flags y el guardrail bloquea lo fuera de alcance.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Unidad 10 · el otro 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evasión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labs fuiste el atacante. Ahora date vuelta: del otro lado siempre hubo alguien mirando. Blue vs Red.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IDS/SOC te detecta por firmas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evade una firma (y por qué ninguna es perfecta)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caza una intrusión escondida en el 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2167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?q=UNION SELECT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420624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4361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?q=UNION/**/SELECT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52560" y="29260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11A22"/>
          </a:solidFill>
          <a:ln w="1524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· firma
</a:t>
            </a:r>
            <a:pPr algn="ctr" indent="0" marL="0">
              <a:buNone/>
            </a:pPr>
            <a:r>
              <a:rPr lang="en-US" sz="8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union\s+select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8480" y="20116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1C1210"/>
          </a:solidFill>
          <a:ln w="15240">
            <a:solidFill>
              <a:srgbClr val="E064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0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ALERTA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98480" y="420624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1B1A12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0" y="43616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evadido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2377440"/>
            <a:ext cx="365760" cy="73152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4480560"/>
            <a:ext cx="365760" cy="-731520"/>
          </a:xfrm>
          <a:prstGeom prst="line">
            <a:avLst/>
          </a:prstGeom>
          <a:noFill/>
          <a:ln w="19050">
            <a:solidFill>
              <a:srgbClr val="7C90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424160" y="3200400"/>
            <a:ext cx="274320" cy="-731520"/>
          </a:xfrm>
          <a:prstGeom prst="line">
            <a:avLst/>
          </a:prstGeom>
          <a:noFill/>
          <a:ln w="19050">
            <a:solidFill>
              <a:srgbClr val="E0645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424160" y="3657600"/>
            <a:ext cx="274320" cy="73152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281160" y="2788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4114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match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ataque: el espacio la dispara; un comentario /**/ la esquiva.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★ Práctico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engagement completo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objetivo que exige encadenar TODO el curso: recon → foothold por SQLi → loot de un token → RCE hasta los datos de clientes. Sin guía paso a paso.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861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787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05·06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34640" y="28803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30861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3787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07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3355848"/>
            <a:ext cx="320040" cy="0"/>
          </a:xfrm>
          <a:prstGeom prst="line">
            <a:avLst/>
          </a:prstGeom>
          <a:noFill/>
          <a:ln w="2032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8803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0861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3787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08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3355848"/>
            <a:ext cx="320040" cy="0"/>
          </a:xfrm>
          <a:prstGeom prst="line">
            <a:avLst/>
          </a:prstGeom>
          <a:noFill/>
          <a:ln w="2032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28803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111A22"/>
          </a:solidFill>
          <a:ln w="17780">
            <a:solidFill>
              <a:srgbClr val="2C4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0861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3787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inj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86600" y="3355848"/>
            <a:ext cx="320040" cy="0"/>
          </a:xfrm>
          <a:prstGeom prst="line">
            <a:avLst/>
          </a:prstGeom>
          <a:noFill/>
          <a:ln w="2032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2880360"/>
            <a:ext cx="1965960" cy="960120"/>
          </a:xfrm>
          <a:prstGeom prst="roundRect">
            <a:avLst>
              <a:gd name="adj" fmla="val 10476"/>
            </a:avLst>
          </a:prstGeom>
          <a:solidFill>
            <a:srgbClr val="111A22"/>
          </a:solidFill>
          <a:ln w="1778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30861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jewels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3787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72600" y="3355848"/>
            <a:ext cx="320040" cy="0"/>
          </a:xfrm>
          <a:prstGeom prst="line">
            <a:avLst/>
          </a:prstGeom>
          <a:noFill/>
          <a:ln w="2032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29768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44398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DESAFÍO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70001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 · 4 hitos encadenados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084064"/>
            <a:ext cx="5038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engagement como en un pentest real. Poco hand-holding: para eso hiciste los diez labs.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429768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3368" y="444398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ENTREGABLE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73368" y="470001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pentest profesional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73368" y="5084064"/>
            <a:ext cx="5038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+ hallazgos con CVSS, evidencia y remediación.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hilo narrativo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cliente: PhantomCorp S.A.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engagement ficticio atraviesa las unidades ofensivas. Reconocés, enumerás, explotás, escalás y pivoteás, soltás un agente, ves cómo te detectan — y al final entregás un informe.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te mantiene metido en la materia; cada lab avanza el ataque.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87452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74520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0D141B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975104"/>
            <a:ext cx="109728" cy="109728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0" y="1975104"/>
            <a:ext cx="109728" cy="10972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0" name="Shape 8"/>
          <p:cNvSpPr/>
          <p:nvPr/>
        </p:nvSpPr>
        <p:spPr>
          <a:xfrm>
            <a:off x="6967728" y="1975104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0256" y="2295144"/>
            <a:ext cx="47731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[05] perímetro mapeado .... 4 servicios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[06] intranet enumerada ... .git expuesto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[07] portal comprometido .. RCE + SQLi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[08] root + red interna ... pivot ok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[09] auditoría autónoma ... agente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[10] visto por el SOC ..... firma evadida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[★ ] engagement final ..... informe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se entrega y se corrige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 un proyecto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2082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7685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Pull Request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60904"/>
            <a:ext cx="50383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PR — el flujo real de software serio</a:t>
            </a:r>
            <a:endParaRPr lang="en-US" sz="14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4–5 en entregas/labNN/grupoXX/</a:t>
            </a:r>
            <a:endParaRPr lang="en-US" sz="14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historial: los commits de todos cuentan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202082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73368" y="2276856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100 puntos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660904"/>
            <a:ext cx="50383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260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por componente + causales de rechazo</a:t>
            </a:r>
            <a:endParaRPr lang="en-US" sz="14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demuestran que pudiste; informe, que entendiste</a:t>
            </a:r>
            <a:endParaRPr lang="en-US" sz="14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IA: no está prohibido; no declararlo, sí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Uso responsable. </a:t>
            </a:r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practica solo contra los contenedores de la cátedra. Contra terceros es delito — Ley 26.388.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Bajo el capó · para la cátedra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2082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7685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60904"/>
            <a:ext cx="32095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lab en cualquier SO. Se destruye y recrea. Los targets no se exponen al host.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87452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202082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VERIFICABLE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227685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por SHA-256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660904"/>
            <a:ext cx="32095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manifest guarda hashes, nunca la flag en claro. ./ctf submit compara.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111A22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3608" y="20208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EXTENSIBLE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276856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660904"/>
            <a:ext cx="31181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lab nuevo es copiar labs/_plantilla y rellenar. El número se deriva solo.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lab: README (teoría→ejemplos→tools→práctica) · entorno/ Docker · retos.manifest · rúbrica · solucion.md (docente).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root@cyberlab:~# ./fin.sh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103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humano </a:t>
            </a:r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</a:t>
            </a:r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ejecuta.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laboratorios y un engagement final. La diferencia entre un pentester y un delincuente es la autorización, el alcance y la ética. Nunca lo olvides.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pPr indent="0" marL="0">
              <a:buNone/>
            </a:pPr>
            <a:r>
              <a:rPr lang="en-US" sz="14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hacé el fork  ·  ponete las pilas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CyberLab UTN</dc:title>
  <dc:subject>PptxGenJS Presentation</dc:subject>
  <dc:creator>Ing. Fernando Boiero</dc:creator>
  <cp:lastModifiedBy>Ing. Fernando Boiero</cp:lastModifiedBy>
  <cp:revision>1</cp:revision>
  <dcterms:created xsi:type="dcterms:W3CDTF">2026-09-04T19:51:52Z</dcterms:created>
  <dcterms:modified xsi:type="dcterms:W3CDTF">2026-09-04T19:51:52Z</dcterms:modified>
</cp:coreProperties>
</file>