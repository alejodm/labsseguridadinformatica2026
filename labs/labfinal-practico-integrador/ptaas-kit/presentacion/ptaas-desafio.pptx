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182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01820"/>
                </a:solidFill>
                <a:latin typeface="Arial"/>
              </a:rPr>
              <a:t>Rúbrica propuesta (ajustable)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 (%)</c:v>
                </c:pt>
              </c:strCache>
            </c:strRef>
          </c:tx>
          <c:spPr>
            <a:solidFill>
              <a:srgbClr val="0E9F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18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Ética y gobernanza</c:v>
                  </c:pt>
                  <c:pt idx="1">
                    <c:v>Specs y tests</c:v>
                  </c:pt>
                  <c:pt idx="2">
                    <c:v>Selección de herramientas</c:v>
                  </c:pt>
                  <c:pt idx="3">
                    <c:v>Loops agénticos</c:v>
                  </c:pt>
                  <c:pt idx="4">
                    <c:v>Harness e invariantes</c:v>
                  </c:pt>
                  <c:pt idx="5">
                    <c:v>Diseño del swarm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25</c:v>
                </c:pt>
                <c:pt idx="5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018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018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desafío: construir, con agentes, una plataforma de pentest AUTORIZADO. El foco no es atacar, es diseñar el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desafío en una frase y tres números: 8 agentes, 3 loops, 3 criterios de aceptación que se pueden verificar con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regla que no se negocia. Sin RoE vigente no hay fase activa. Cada control es código verificable.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inventamos una metodología: implementamos de forma agéntica PTES, NIST 800-115, OWASP WSTG, OSSTMM, CVSS v4 y CWE.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Patrón orquestador-trabajadores. El Scope Guard es CÓDIGO determinista, no un LLM. Humano en los puntos de mayor riesgo.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pasa por Harness.invoke. Ningún agente ejecuta una herramienta directamente. Autorización y trazabilidad son invariantes.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loop es plan-act-observe-reflect. El LLM propone; el harness decide la parada. Loop C solo parametriza PoCs del catálogo.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spec es la fuente de verdad. Cada Scenario es un criterio de aceptación y un test. Siempre hay un caso negativo de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Criterios: licencia, salida parseable, modo no destructivo, madurez, adaptador estable. Verificar licencias antes de empaquetar (nmap usa NPSL).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Ruteo por riesgo y volumen. La autorización nunca depende de un LLM. Cambiar modelo o prompt exige correr las evals.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MVP es un recorrido completo sobre un laboratorio propio aislado. Fuera del MVP: multi-tenant, post-explotación, generación de exploits.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ponderación es una propuesta y se puede ajustar. Lo importante: se evalúa el control (harness y tests) tanto como la inteligencia de los agentes.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sprints de cinco días con un checkpoint al final de cada uno. Cada sprint tiene un tema: dominar el núcleo, conectar el swarm, validar y defender. Detalle día por día en docs/plan-15-dias.md.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change trae proposal.md y tasks.md de partida. El design.md y los deltas de spec los escriben los alumnos: es parte de lo evaluado.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Rutina de dos horas. Un día termina con tests verdes, progress.py y un commit. La disciplina de spec primero y test primero es lo que mantiene honesta a la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docente a mano, el equipo se controla con cuatro herramientas. La mutación manual es lo primero que revisa el docente: si rompés el guard y los tests siguen en verde, no sirven.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Acá están TODOS los links. El repo del TP y los documentos que explican qué hay que hacer: enunciado (qué entregar), marco teórico (cómo construirlo), plan de 15 días y rúbrica. Que cada equipo arranque leyendo el enunciado y el plan, y abra el primer change para empezar.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kit funciona con Claude Code o con opencode, el alumno elige. Lo clave: la seguridad NO depende del agente. El Scope Guard, el token de alcance y la bitácora están en el harness (código determinista) y los valida el CI. El agente solo ayuda a construir.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las reglas de juego y la pregunta de arranque. Todo el trabajo es sobre laboratorio propio.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PTaaS · Trabajo práctico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PTaaS · Trabajo práctico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boiero/LabsSeguridadInformatica2026/tree/main/labs/labfinal-practico-integrador/ptaas-kit" TargetMode="External"/><Relationship Id="rId2" Type="http://schemas.openxmlformats.org/officeDocument/2006/relationships/hyperlink" Target="https://github.com/fboiero/LabsSeguridadInformatica2026/blob/main/labs/labfinal-practico-integrador/ptaas-kit/docs/enunciado-alumnos.md" TargetMode="External"/><Relationship Id="rId3" Type="http://schemas.openxmlformats.org/officeDocument/2006/relationships/hyperlink" Target="https://github.com/fboiero/LabsSeguridadInformatica2026/blob/main/labs/labfinal-practico-integrador/ptaas-kit/docs/marco-teorico.md" TargetMode="External"/><Relationship Id="rId4" Type="http://schemas.openxmlformats.org/officeDocument/2006/relationships/hyperlink" Target="https://github.com/fboiero/LabsSeguridadInformatica2026/blob/main/labs/labfinal-practico-integrador/ptaas-kit/docs/plan-15-dias.md" TargetMode="External"/><Relationship Id="rId5" Type="http://schemas.openxmlformats.org/officeDocument/2006/relationships/hyperlink" Target="https://github.com/fboiero/LabsSeguridadInformatica2026/blob/main/labs/labfinal-practico-integrador/ptaas-kit/docs/rubrica-evaluacion.md" TargetMode="External"/><Relationship Id="rId6" Type="http://schemas.openxmlformats.org/officeDocument/2006/relationships/hyperlink" Target="https://github.com/fboiero/LabsSeguridadInformatica2026/blob/main/labs/labfinal-practico-integrador/ptaas-kit/AGENTS.md" TargetMode="External"/><Relationship Id="rId7" Type="http://schemas.openxmlformats.org/officeDocument/2006/relationships/hyperlink" Target="https://github.com/fboiero/LabsSeguridadInformatica2026/blob/main/labs/labfinal-practico-integrador/ptaas-kit/openspec/changes/001-mvp-vertical-slice/tasks.md" TargetMode="Externa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o círculo grande"/>
          <p:cNvSpPr/>
          <p:nvPr/>
        </p:nvSpPr>
        <p:spPr>
          <a:xfrm>
            <a:off x="6400800" y="822960"/>
            <a:ext cx="2560320" cy="256032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Motivo círculo ámbar"/>
          <p:cNvSpPr/>
          <p:nvPr/>
        </p:nvSpPr>
        <p:spPr>
          <a:xfrm>
            <a:off x="7498080" y="2651760"/>
            <a:ext cx="1280160" cy="1280160"/>
          </a:xfrm>
          <a:prstGeom prst="ellipse">
            <a:avLst/>
          </a:prstGeom>
          <a:solidFill>
            <a:schemeClr val="accent2">
              <a:alpha val="7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Etiqueta"/>
          <p:cNvSpPr txBox="1"/>
          <p:nvPr/>
        </p:nvSpPr>
        <p:spPr>
          <a:xfrm>
            <a:off x="457200" y="10972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TRABAJO PRÁCTICO · SEGURIDAD INFORMÁTICA</a:t>
            </a:r>
            <a:endParaRPr lang="en-US" sz="1200" dirty="0"/>
          </a:p>
        </p:txBody>
      </p:sp>
      <p:sp>
        <p:nvSpPr>
          <p:cNvPr id="6" name="Título"/>
          <p:cNvSpPr txBox="1"/>
          <p:nvPr/>
        </p:nvSpPr>
        <p:spPr>
          <a:xfrm>
            <a:off x="457200" y="146304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Pentest as a Service con un swarm de agentes</a:t>
            </a:r>
            <a:endParaRPr lang="en-US" sz="3800" dirty="0"/>
          </a:p>
        </p:txBody>
      </p:sp>
      <p:sp>
        <p:nvSpPr>
          <p:cNvPr id="7" name="Subtítulo"/>
          <p:cNvSpPr txBox="1"/>
          <p:nvPr/>
        </p:nvSpPr>
        <p:spPr>
          <a:xfrm>
            <a:off x="457200" y="3200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El desafío: diseñar el swarm, el harness que lo gobierna y los loops agénticos</a:t>
            </a:r>
            <a:endParaRPr lang="en-US" sz="1800" dirty="0"/>
          </a:p>
        </p:txBody>
      </p:sp>
      <p:sp>
        <p:nvSpPr>
          <p:cNvPr id="8" name="Autor"/>
          <p:cNvSpPr txBox="1"/>
          <p:nvPr/>
        </p:nvSpPr>
        <p:spPr>
          <a:xfrm>
            <a:off x="45720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Fernando Boiero · UTN FRVM · Xcapit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 desafío</a:t>
            </a:r>
            <a:endParaRPr lang="en-US" sz="3200" dirty="0"/>
          </a:p>
        </p:txBody>
      </p:sp>
      <p:sp>
        <p:nvSpPr>
          <p:cNvPr id="4" name="Enunciado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Construí un pentest autorizado de punta a punta, donde la autorización y la trazabilidad las garantiza el sistema, no la buena voluntad del agente.</a:t>
            </a:r>
            <a:endParaRPr lang="en-US" sz="1800" dirty="0"/>
          </a:p>
        </p:txBody>
      </p:sp>
      <p:sp>
        <p:nvSpPr>
          <p:cNvPr id="5" name="Tarjeta 1"/>
          <p:cNvSpPr/>
          <p:nvPr/>
        </p:nvSpPr>
        <p:spPr>
          <a:xfrm>
            <a:off x="457200" y="228600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úmero 1"/>
          <p:cNvSpPr txBox="1"/>
          <p:nvPr/>
        </p:nvSpPr>
        <p:spPr>
          <a:xfrm>
            <a:off x="685800" y="2423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600" dirty="0"/>
          </a:p>
        </p:txBody>
      </p:sp>
      <p:sp>
        <p:nvSpPr>
          <p:cNvPr id="7" name="Etiqueta 1"/>
          <p:cNvSpPr txBox="1"/>
          <p:nvPr/>
        </p:nvSpPr>
        <p:spPr>
          <a:xfrm>
            <a:off x="685800" y="3520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agentes con mandato acotado</a:t>
            </a:r>
            <a:endParaRPr lang="en-US" sz="1400" dirty="0"/>
          </a:p>
        </p:txBody>
      </p:sp>
      <p:sp>
        <p:nvSpPr>
          <p:cNvPr id="8" name="Tarjeta 2"/>
          <p:cNvSpPr/>
          <p:nvPr/>
        </p:nvSpPr>
        <p:spPr>
          <a:xfrm>
            <a:off x="3246120" y="228600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 2"/>
          <p:cNvSpPr txBox="1"/>
          <p:nvPr/>
        </p:nvSpPr>
        <p:spPr>
          <a:xfrm>
            <a:off x="3474720" y="2423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600" dirty="0"/>
          </a:p>
        </p:txBody>
      </p:sp>
      <p:sp>
        <p:nvSpPr>
          <p:cNvPr id="10" name="Etiqueta 2"/>
          <p:cNvSpPr txBox="1"/>
          <p:nvPr/>
        </p:nvSpPr>
        <p:spPr>
          <a:xfrm>
            <a:off x="3474720" y="3520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loops agénticos con tope y parada</a:t>
            </a:r>
            <a:endParaRPr lang="en-US" sz="1400" dirty="0"/>
          </a:p>
        </p:txBody>
      </p:sp>
      <p:sp>
        <p:nvSpPr>
          <p:cNvPr id="11" name="Tarjeta 3"/>
          <p:cNvSpPr/>
          <p:nvPr/>
        </p:nvSpPr>
        <p:spPr>
          <a:xfrm>
            <a:off x="6035040" y="228600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 3"/>
          <p:cNvSpPr txBox="1"/>
          <p:nvPr/>
        </p:nvSpPr>
        <p:spPr>
          <a:xfrm>
            <a:off x="6263640" y="2423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600" dirty="0"/>
          </a:p>
        </p:txBody>
      </p:sp>
      <p:sp>
        <p:nvSpPr>
          <p:cNvPr id="13" name="Etiqueta 3"/>
          <p:cNvSpPr txBox="1"/>
          <p:nvPr/>
        </p:nvSpPr>
        <p:spPr>
          <a:xfrm>
            <a:off x="6263640" y="3520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criterios de aceptación verificables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Premisa: solo pentest autorizado</a:t>
            </a:r>
            <a:endParaRPr lang="en-US" sz="3200" dirty="0"/>
          </a:p>
        </p:txBody>
      </p:sp>
      <p:sp>
        <p:nvSpPr>
          <p:cNvPr id="4" name="Tarjeta RoE firmado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 RoE firmado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úmero RoE firmado texto"/>
          <p:cNvSpPr txBox="1"/>
          <p:nvPr/>
        </p:nvSpPr>
        <p:spPr>
          <a:xfrm>
            <a:off x="6858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ítulo RoE firmado"/>
          <p:cNvSpPr txBox="1"/>
          <p:nvPr/>
        </p:nvSpPr>
        <p:spPr>
          <a:xfrm>
            <a:off x="137160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RoE firmado</a:t>
            </a:r>
            <a:endParaRPr lang="en-US" sz="1800" dirty="0"/>
          </a:p>
        </p:txBody>
      </p:sp>
      <p:sp>
        <p:nvSpPr>
          <p:cNvPr id="8" name="Detalle RoE firmado"/>
          <p:cNvSpPr txBox="1"/>
          <p:nvPr/>
        </p:nvSpPr>
        <p:spPr>
          <a:xfrm>
            <a:off x="1371600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Alcance, ventana temporal, exclusiones y contactos de emergencia.</a:t>
            </a:r>
            <a:endParaRPr lang="en-US" sz="1400" dirty="0"/>
          </a:p>
        </p:txBody>
      </p:sp>
      <p:sp>
        <p:nvSpPr>
          <p:cNvPr id="9" name="Tarjeta Scope token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úmero Scope token"/>
          <p:cNvSpPr/>
          <p:nvPr/>
        </p:nvSpPr>
        <p:spPr>
          <a:xfrm>
            <a:off x="489204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úmero Scope token texto"/>
          <p:cNvSpPr txBox="1"/>
          <p:nvPr/>
        </p:nvSpPr>
        <p:spPr>
          <a:xfrm>
            <a:off x="48920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ítulo Scope token"/>
          <p:cNvSpPr txBox="1"/>
          <p:nvPr/>
        </p:nvSpPr>
        <p:spPr>
          <a:xfrm>
            <a:off x="557784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Scope token</a:t>
            </a:r>
            <a:endParaRPr lang="en-US" sz="1800" dirty="0"/>
          </a:p>
        </p:txBody>
      </p:sp>
      <p:sp>
        <p:nvSpPr>
          <p:cNvPr id="13" name="Detalle Scope token"/>
          <p:cNvSpPr txBox="1"/>
          <p:nvPr/>
        </p:nvSpPr>
        <p:spPr>
          <a:xfrm>
            <a:off x="5577840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Corto, por fase y por activo. Sin token vivo no hay acción.</a:t>
            </a:r>
            <a:endParaRPr lang="en-US" sz="1400" dirty="0"/>
          </a:p>
        </p:txBody>
      </p:sp>
      <p:sp>
        <p:nvSpPr>
          <p:cNvPr id="14" name="Tarjeta Kill switch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úmero Kill switch"/>
          <p:cNvSpPr/>
          <p:nvPr/>
        </p:nvSpPr>
        <p:spPr>
          <a:xfrm>
            <a:off x="685800" y="32461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úmero Kill switch texto"/>
          <p:cNvSpPr txBox="1"/>
          <p:nvPr/>
        </p:nvSpPr>
        <p:spPr>
          <a:xfrm>
            <a:off x="6858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ítulo Kill switch"/>
          <p:cNvSpPr txBox="1"/>
          <p:nvPr/>
        </p:nvSpPr>
        <p:spPr>
          <a:xfrm>
            <a:off x="137160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Kill switch</a:t>
            </a:r>
            <a:endParaRPr lang="en-US" sz="1800" dirty="0"/>
          </a:p>
        </p:txBody>
      </p:sp>
      <p:sp>
        <p:nvSpPr>
          <p:cNvPr id="18" name="Detalle Kill switch"/>
          <p:cNvSpPr txBox="1"/>
          <p:nvPr/>
        </p:nvSpPr>
        <p:spPr>
          <a:xfrm>
            <a:off x="137160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Detiene todo el engagement desde cualquier estado.</a:t>
            </a:r>
            <a:endParaRPr lang="en-US" sz="1400" dirty="0"/>
          </a:p>
        </p:txBody>
      </p:sp>
      <p:sp>
        <p:nvSpPr>
          <p:cNvPr id="19" name="Tarjeta Bitácora inmutable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úmero Bitácora inmutable"/>
          <p:cNvSpPr/>
          <p:nvPr/>
        </p:nvSpPr>
        <p:spPr>
          <a:xfrm>
            <a:off x="4892040" y="32461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úmero Bitácora inmutable texto"/>
          <p:cNvSpPr txBox="1"/>
          <p:nvPr/>
        </p:nvSpPr>
        <p:spPr>
          <a:xfrm>
            <a:off x="48920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ítulo Bitácora inmutable"/>
          <p:cNvSpPr txBox="1"/>
          <p:nvPr/>
        </p:nvSpPr>
        <p:spPr>
          <a:xfrm>
            <a:off x="557784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Bitácora inmutable</a:t>
            </a:r>
            <a:endParaRPr lang="en-US" sz="1800" dirty="0"/>
          </a:p>
        </p:txBody>
      </p:sp>
      <p:sp>
        <p:nvSpPr>
          <p:cNvPr id="23" name="Detalle Bitácora inmutable"/>
          <p:cNvSpPr txBox="1"/>
          <p:nvPr/>
        </p:nvSpPr>
        <p:spPr>
          <a:xfrm>
            <a:off x="557784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Quién, qué, cuándo, sobre qué activo, bajo qué token y con qué resultado.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Estándares que guían el flujo</a:t>
            </a:r>
            <a:endParaRPr lang="en-US" sz="3200" dirty="0"/>
          </a:p>
        </p:txBody>
      </p:sp>
      <p:graphicFrame>
        <p:nvGraphicFramePr>
          <p:cNvPr id="5" name="Tabla de estánda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Fase PTES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Estándar / referencia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Agente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Pre-engagement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RoE, ISO/IEC 27001 (contexto)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Scope Guard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Intelligence gathering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PTES §2, OSSTMM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Recon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Threat modeling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MITRE ATT&amp;CK, CWE, EPSS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Correlación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Vulnerability analysis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NIST SP 800-115, OWASP WSTG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Análisis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Validación controlada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PTES §5, solo catálogo en sandbox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Validación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Reporting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CVSS v4.0, ISO/IEC 29147 y 30111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Reporting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 swarm: 8 roles, un mandato cada uno</a:t>
            </a:r>
            <a:endParaRPr lang="en-US" sz="3200" dirty="0"/>
          </a:p>
        </p:txBody>
      </p:sp>
      <p:sp>
        <p:nvSpPr>
          <p:cNvPr id="4" name="Orchestrator"/>
          <p:cNvSpPr/>
          <p:nvPr/>
        </p:nvSpPr>
        <p:spPr>
          <a:xfrm>
            <a:off x="3108960" y="1143000"/>
            <a:ext cx="292608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Orchestrator texto"/>
          <p:cNvSpPr txBox="1"/>
          <p:nvPr/>
        </p:nvSpPr>
        <p:spPr>
          <a:xfrm>
            <a:off x="3108960" y="11430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Orchestrator / Planner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0" y="1737360"/>
            <a:ext cx="0" cy="3200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0" y="2057400"/>
            <a:ext cx="694944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7280" y="2057400"/>
            <a:ext cx="0" cy="27432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9" name="Agente Scope Guard"/>
          <p:cNvSpPr/>
          <p:nvPr/>
        </p:nvSpPr>
        <p:spPr>
          <a:xfrm>
            <a:off x="457200" y="2331720"/>
            <a:ext cx="1280160" cy="1371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o Scope Guard"/>
          <p:cNvSpPr/>
          <p:nvPr/>
        </p:nvSpPr>
        <p:spPr>
          <a:xfrm>
            <a:off x="914400" y="24688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ombre Scope Guard"/>
          <p:cNvSpPr txBox="1"/>
          <p:nvPr/>
        </p:nvSpPr>
        <p:spPr>
          <a:xfrm>
            <a:off x="502920" y="2971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Scope Guard</a:t>
            </a:r>
            <a:endParaRPr lang="en-US" sz="1300" dirty="0"/>
          </a:p>
        </p:txBody>
      </p:sp>
      <p:sp>
        <p:nvSpPr>
          <p:cNvPr id="12" name="Rol Scope Guard"/>
          <p:cNvSpPr txBox="1"/>
          <p:nvPr/>
        </p:nvSpPr>
        <p:spPr>
          <a:xfrm>
            <a:off x="502920" y="3291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código, no LLM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87168" y="2057400"/>
            <a:ext cx="0" cy="27432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4" name="Agente Recon"/>
          <p:cNvSpPr/>
          <p:nvPr/>
        </p:nvSpPr>
        <p:spPr>
          <a:xfrm>
            <a:off x="1847088" y="2331720"/>
            <a:ext cx="1280160" cy="1371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o Recon"/>
          <p:cNvSpPr/>
          <p:nvPr/>
        </p:nvSpPr>
        <p:spPr>
          <a:xfrm>
            <a:off x="2304288" y="24688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ombre Recon"/>
          <p:cNvSpPr txBox="1"/>
          <p:nvPr/>
        </p:nvSpPr>
        <p:spPr>
          <a:xfrm>
            <a:off x="1892808" y="2971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Recon</a:t>
            </a:r>
            <a:endParaRPr lang="en-US" sz="1300" dirty="0"/>
          </a:p>
        </p:txBody>
      </p:sp>
      <p:sp>
        <p:nvSpPr>
          <p:cNvPr id="17" name="Rol Recon"/>
          <p:cNvSpPr txBox="1"/>
          <p:nvPr/>
        </p:nvSpPr>
        <p:spPr>
          <a:xfrm>
            <a:off x="1892808" y="3291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grafo de activos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877056" y="2057400"/>
            <a:ext cx="0" cy="27432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19" name="Agente Correlación"/>
          <p:cNvSpPr/>
          <p:nvPr/>
        </p:nvSpPr>
        <p:spPr>
          <a:xfrm>
            <a:off x="3236976" y="2331720"/>
            <a:ext cx="1280160" cy="1371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o Correlación"/>
          <p:cNvSpPr/>
          <p:nvPr/>
        </p:nvSpPr>
        <p:spPr>
          <a:xfrm>
            <a:off x="3694176" y="24688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ombre Correlación"/>
          <p:cNvSpPr txBox="1"/>
          <p:nvPr/>
        </p:nvSpPr>
        <p:spPr>
          <a:xfrm>
            <a:off x="3282696" y="2971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Correlación</a:t>
            </a:r>
            <a:endParaRPr lang="en-US" sz="1300" dirty="0"/>
          </a:p>
        </p:txBody>
      </p:sp>
      <p:sp>
        <p:nvSpPr>
          <p:cNvPr id="22" name="Rol Correlación"/>
          <p:cNvSpPr txBox="1"/>
          <p:nvPr/>
        </p:nvSpPr>
        <p:spPr>
          <a:xfrm>
            <a:off x="3282696" y="3291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CVE · CWE · EPSS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266944" y="2057400"/>
            <a:ext cx="0" cy="27432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24" name="Agente Análisis"/>
          <p:cNvSpPr/>
          <p:nvPr/>
        </p:nvSpPr>
        <p:spPr>
          <a:xfrm>
            <a:off x="4626864" y="2331720"/>
            <a:ext cx="1280160" cy="1371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o Análisis"/>
          <p:cNvSpPr/>
          <p:nvPr/>
        </p:nvSpPr>
        <p:spPr>
          <a:xfrm>
            <a:off x="5084064" y="24688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Nombre Análisis"/>
          <p:cNvSpPr txBox="1"/>
          <p:nvPr/>
        </p:nvSpPr>
        <p:spPr>
          <a:xfrm>
            <a:off x="4672584" y="2971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Análisis</a:t>
            </a:r>
            <a:endParaRPr lang="en-US" sz="1300" dirty="0"/>
          </a:p>
        </p:txBody>
      </p:sp>
      <p:sp>
        <p:nvSpPr>
          <p:cNvPr id="27" name="Rol Análisis"/>
          <p:cNvSpPr txBox="1"/>
          <p:nvPr/>
        </p:nvSpPr>
        <p:spPr>
          <a:xfrm>
            <a:off x="4672584" y="3291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no destructivo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656832" y="2057400"/>
            <a:ext cx="0" cy="27432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29" name="Agente Validación"/>
          <p:cNvSpPr/>
          <p:nvPr/>
        </p:nvSpPr>
        <p:spPr>
          <a:xfrm>
            <a:off x="6016752" y="2331720"/>
            <a:ext cx="1280160" cy="1371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Icono Validación"/>
          <p:cNvSpPr/>
          <p:nvPr/>
        </p:nvSpPr>
        <p:spPr>
          <a:xfrm>
            <a:off x="6473952" y="246888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Nombre Validación"/>
          <p:cNvSpPr txBox="1"/>
          <p:nvPr/>
        </p:nvSpPr>
        <p:spPr>
          <a:xfrm>
            <a:off x="6062472" y="2971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Validación</a:t>
            </a:r>
            <a:endParaRPr lang="en-US" sz="1300" dirty="0"/>
          </a:p>
        </p:txBody>
      </p:sp>
      <p:sp>
        <p:nvSpPr>
          <p:cNvPr id="32" name="Rol Validación"/>
          <p:cNvSpPr txBox="1"/>
          <p:nvPr/>
        </p:nvSpPr>
        <p:spPr>
          <a:xfrm>
            <a:off x="6062472" y="3291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catálogo + sandbox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046720" y="2057400"/>
            <a:ext cx="0" cy="27432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34" name="Agente Reporting"/>
          <p:cNvSpPr/>
          <p:nvPr/>
        </p:nvSpPr>
        <p:spPr>
          <a:xfrm>
            <a:off x="7406640" y="2331720"/>
            <a:ext cx="1280160" cy="1371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Icono Reporting"/>
          <p:cNvSpPr/>
          <p:nvPr/>
        </p:nvSpPr>
        <p:spPr>
          <a:xfrm>
            <a:off x="7863840" y="24688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Nombre Reporting"/>
          <p:cNvSpPr txBox="1"/>
          <p:nvPr/>
        </p:nvSpPr>
        <p:spPr>
          <a:xfrm>
            <a:off x="7452360" y="2971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Reporting</a:t>
            </a:r>
            <a:endParaRPr lang="en-US" sz="1300" dirty="0"/>
          </a:p>
        </p:txBody>
      </p:sp>
      <p:sp>
        <p:nvSpPr>
          <p:cNvPr id="37" name="Rol Reporting"/>
          <p:cNvSpPr txBox="1"/>
          <p:nvPr/>
        </p:nvSpPr>
        <p:spPr>
          <a:xfrm>
            <a:off x="7452360" y="3291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CVSS v4 + CWE</a:t>
            </a:r>
            <a:endParaRPr lang="en-US" sz="1000" dirty="0"/>
          </a:p>
        </p:txBody>
      </p:sp>
      <p:sp>
        <p:nvSpPr>
          <p:cNvPr id="38" name="Barra Reviewer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9" name="Reviewer texto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Reviewer humano · gates: 1ª acción activa · validar cada hallazgo · entregar el informe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 harness: un único camino</a:t>
            </a:r>
            <a:endParaRPr lang="en-US" sz="3200" dirty="0"/>
          </a:p>
        </p:txBody>
      </p:sp>
      <p:sp>
        <p:nvSpPr>
          <p:cNvPr id="4" name="Paso 1"/>
          <p:cNvSpPr/>
          <p:nvPr/>
        </p:nvSpPr>
        <p:spPr>
          <a:xfrm>
            <a:off x="457200" y="1280160"/>
            <a:ext cx="1280160" cy="1325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 1"/>
          <p:cNvSpPr/>
          <p:nvPr/>
        </p:nvSpPr>
        <p:spPr>
          <a:xfrm>
            <a:off x="896112" y="138988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úmero 1 texto"/>
          <p:cNvSpPr txBox="1"/>
          <p:nvPr/>
        </p:nvSpPr>
        <p:spPr>
          <a:xfrm>
            <a:off x="896112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o paso 1"/>
          <p:cNvSpPr txBox="1"/>
          <p:nvPr/>
        </p:nvSpPr>
        <p:spPr>
          <a:xfrm>
            <a:off x="530352" y="192024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Kill switch</a:t>
            </a:r>
            <a:endParaRPr lang="en-US" sz="1300" dirty="0"/>
          </a:p>
        </p:txBody>
      </p:sp>
      <p:sp>
        <p:nvSpPr>
          <p:cNvPr id="8" name="Paso 2"/>
          <p:cNvSpPr/>
          <p:nvPr/>
        </p:nvSpPr>
        <p:spPr>
          <a:xfrm>
            <a:off x="1847088" y="1280160"/>
            <a:ext cx="1280160" cy="1325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 2"/>
          <p:cNvSpPr/>
          <p:nvPr/>
        </p:nvSpPr>
        <p:spPr>
          <a:xfrm>
            <a:off x="2286000" y="138988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úmero 2 texto"/>
          <p:cNvSpPr txBox="1"/>
          <p:nvPr/>
        </p:nvSpPr>
        <p:spPr>
          <a:xfrm>
            <a:off x="2286000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o paso 2"/>
          <p:cNvSpPr txBox="1"/>
          <p:nvPr/>
        </p:nvSpPr>
        <p:spPr>
          <a:xfrm>
            <a:off x="1920240" y="192024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Token vivo</a:t>
            </a:r>
            <a:endParaRPr lang="en-US" sz="1300" dirty="0"/>
          </a:p>
        </p:txBody>
      </p:sp>
      <p:sp>
        <p:nvSpPr>
          <p:cNvPr id="12" name="Paso 3"/>
          <p:cNvSpPr/>
          <p:nvPr/>
        </p:nvSpPr>
        <p:spPr>
          <a:xfrm>
            <a:off x="3236976" y="1280160"/>
            <a:ext cx="1280160" cy="1325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úmero 3"/>
          <p:cNvSpPr/>
          <p:nvPr/>
        </p:nvSpPr>
        <p:spPr>
          <a:xfrm>
            <a:off x="3675888" y="1389888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Número 3 texto"/>
          <p:cNvSpPr txBox="1"/>
          <p:nvPr/>
        </p:nvSpPr>
        <p:spPr>
          <a:xfrm>
            <a:off x="3675888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o paso 3"/>
          <p:cNvSpPr txBox="1"/>
          <p:nvPr/>
        </p:nvSpPr>
        <p:spPr>
          <a:xfrm>
            <a:off x="3310128" y="192024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Guard (alcance y fase)</a:t>
            </a:r>
            <a:endParaRPr lang="en-US" sz="1300" dirty="0"/>
          </a:p>
        </p:txBody>
      </p:sp>
      <p:sp>
        <p:nvSpPr>
          <p:cNvPr id="16" name="Paso 4"/>
          <p:cNvSpPr/>
          <p:nvPr/>
        </p:nvSpPr>
        <p:spPr>
          <a:xfrm>
            <a:off x="4626864" y="1280160"/>
            <a:ext cx="1280160" cy="1325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úmero 4"/>
          <p:cNvSpPr/>
          <p:nvPr/>
        </p:nvSpPr>
        <p:spPr>
          <a:xfrm>
            <a:off x="5065776" y="138988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úmero 4 texto"/>
          <p:cNvSpPr txBox="1"/>
          <p:nvPr/>
        </p:nvSpPr>
        <p:spPr>
          <a:xfrm>
            <a:off x="5065776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o paso 4"/>
          <p:cNvSpPr txBox="1"/>
          <p:nvPr/>
        </p:nvSpPr>
        <p:spPr>
          <a:xfrm>
            <a:off x="4700016" y="192024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Gate humano</a:t>
            </a:r>
            <a:endParaRPr lang="en-US" sz="1300" dirty="0"/>
          </a:p>
        </p:txBody>
      </p:sp>
      <p:sp>
        <p:nvSpPr>
          <p:cNvPr id="20" name="Paso 5"/>
          <p:cNvSpPr/>
          <p:nvPr/>
        </p:nvSpPr>
        <p:spPr>
          <a:xfrm>
            <a:off x="6016752" y="1280160"/>
            <a:ext cx="1280160" cy="1325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úmero 5"/>
          <p:cNvSpPr/>
          <p:nvPr/>
        </p:nvSpPr>
        <p:spPr>
          <a:xfrm>
            <a:off x="6455664" y="138988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úmero 5 texto"/>
          <p:cNvSpPr txBox="1"/>
          <p:nvPr/>
        </p:nvSpPr>
        <p:spPr>
          <a:xfrm>
            <a:off x="6455664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o paso 5"/>
          <p:cNvSpPr txBox="1"/>
          <p:nvPr/>
        </p:nvSpPr>
        <p:spPr>
          <a:xfrm>
            <a:off x="6089904" y="192024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Adaptador tipado</a:t>
            </a:r>
            <a:endParaRPr lang="en-US" sz="1300" dirty="0"/>
          </a:p>
        </p:txBody>
      </p:sp>
      <p:sp>
        <p:nvSpPr>
          <p:cNvPr id="24" name="Paso 6"/>
          <p:cNvSpPr/>
          <p:nvPr/>
        </p:nvSpPr>
        <p:spPr>
          <a:xfrm>
            <a:off x="7406640" y="1280160"/>
            <a:ext cx="1280160" cy="13258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úmero 6"/>
          <p:cNvSpPr/>
          <p:nvPr/>
        </p:nvSpPr>
        <p:spPr>
          <a:xfrm>
            <a:off x="7845552" y="138988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Número 6 texto"/>
          <p:cNvSpPr txBox="1"/>
          <p:nvPr/>
        </p:nvSpPr>
        <p:spPr>
          <a:xfrm>
            <a:off x="7845552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o paso 6"/>
          <p:cNvSpPr txBox="1"/>
          <p:nvPr/>
        </p:nvSpPr>
        <p:spPr>
          <a:xfrm>
            <a:off x="7479792" y="192024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Bitácora</a:t>
            </a:r>
            <a:endParaRPr lang="en-US" sz="1300" dirty="0"/>
          </a:p>
        </p:txBody>
      </p:sp>
      <p:sp>
        <p:nvSpPr>
          <p:cNvPr id="28" name="Bloque de código"/>
          <p:cNvSpPr/>
          <p:nvPr/>
        </p:nvSpPr>
        <p:spPr>
          <a:xfrm>
            <a:off x="457200" y="2880360"/>
            <a:ext cx="822960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Código invoke"/>
          <p:cNvSpPr txBox="1"/>
          <p:nvPr/>
        </p:nvSpPr>
        <p:spPr>
          <a:xfrm>
            <a:off x="685800" y="2971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invoke(agent, action, target, token):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killswitch → token.is_live() → guard.is_allowed()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→ hitl.approved() → adapter.run() → audit.record(...)</a:t>
            </a:r>
            <a:endParaRPr lang="en-US" sz="1300" dirty="0"/>
          </a:p>
        </p:txBody>
      </p:sp>
      <p:sp>
        <p:nvSpPr>
          <p:cNvPr id="30" name="Nota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 registran también los intentos bloqueados. El Scope Guard es código determinista.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Tres loops agénticos</a:t>
            </a:r>
            <a:endParaRPr lang="en-US" sz="3200" dirty="0"/>
          </a:p>
        </p:txBody>
      </p:sp>
      <p:sp>
        <p:nvSpPr>
          <p:cNvPr id="4" name="Loop A"/>
          <p:cNvSpPr/>
          <p:nvPr/>
        </p:nvSpPr>
        <p:spPr>
          <a:xfrm>
            <a:off x="457200" y="1234440"/>
            <a:ext cx="2651760" cy="32004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etra A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Letra A texto"/>
          <p:cNvSpPr txBox="1"/>
          <p:nvPr/>
        </p:nvSpPr>
        <p:spPr>
          <a:xfrm>
            <a:off x="6858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7" name="Título loop A"/>
          <p:cNvSpPr txBox="1"/>
          <p:nvPr/>
        </p:nvSpPr>
        <p:spPr>
          <a:xfrm>
            <a:off x="137160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Relevamiento</a:t>
            </a:r>
            <a:endParaRPr lang="en-US" sz="1800" dirty="0"/>
          </a:p>
        </p:txBody>
      </p:sp>
      <p:sp>
        <p:nvSpPr>
          <p:cNvPr id="8" name="Agentes A"/>
          <p:cNvSpPr txBox="1"/>
          <p:nvPr/>
        </p:nvSpPr>
        <p:spPr>
          <a:xfrm>
            <a:off x="68580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Recon ↔ Correlación</a:t>
            </a:r>
            <a:endParaRPr lang="en-US" sz="1400" dirty="0"/>
          </a:p>
        </p:txBody>
      </p:sp>
      <p:sp>
        <p:nvSpPr>
          <p:cNvPr id="9" name="Parada A"/>
          <p:cNvSpPr txBox="1"/>
          <p:nvPr/>
        </p:nvSpPr>
        <p:spPr>
          <a:xfrm>
            <a:off x="68580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Parar: 0 activos nuevos</a:t>
            </a:r>
            <a:endParaRPr lang="en-US" sz="1400" dirty="0"/>
          </a:p>
        </p:txBody>
      </p:sp>
      <p:sp>
        <p:nvSpPr>
          <p:cNvPr id="10" name="Tope A"/>
          <p:cNvSpPr txBox="1"/>
          <p:nvPr/>
        </p:nvSpPr>
        <p:spPr>
          <a:xfrm>
            <a:off x="685800" y="3886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Tope: 5 iteraciones</a:t>
            </a:r>
            <a:endParaRPr lang="en-US" sz="1400" dirty="0"/>
          </a:p>
        </p:txBody>
      </p:sp>
      <p:sp>
        <p:nvSpPr>
          <p:cNvPr id="11" name="Loop B"/>
          <p:cNvSpPr/>
          <p:nvPr/>
        </p:nvSpPr>
        <p:spPr>
          <a:xfrm>
            <a:off x="3246120" y="1234440"/>
            <a:ext cx="2651760" cy="32004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etra B"/>
          <p:cNvSpPr/>
          <p:nvPr/>
        </p:nvSpPr>
        <p:spPr>
          <a:xfrm>
            <a:off x="3474720" y="146304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Letra B texto"/>
          <p:cNvSpPr txBox="1"/>
          <p:nvPr/>
        </p:nvSpPr>
        <p:spPr>
          <a:xfrm>
            <a:off x="34747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sp>
        <p:nvSpPr>
          <p:cNvPr id="14" name="Título loop B"/>
          <p:cNvSpPr txBox="1"/>
          <p:nvPr/>
        </p:nvSpPr>
        <p:spPr>
          <a:xfrm>
            <a:off x="416052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Detección</a:t>
            </a:r>
            <a:endParaRPr lang="en-US" sz="1800" dirty="0"/>
          </a:p>
        </p:txBody>
      </p:sp>
      <p:sp>
        <p:nvSpPr>
          <p:cNvPr id="15" name="Agentes B"/>
          <p:cNvSpPr txBox="1"/>
          <p:nvPr/>
        </p:nvSpPr>
        <p:spPr>
          <a:xfrm>
            <a:off x="347472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Correlación ↔ Análisis</a:t>
            </a:r>
            <a:endParaRPr lang="en-US" sz="1400" dirty="0"/>
          </a:p>
        </p:txBody>
      </p:sp>
      <p:sp>
        <p:nvSpPr>
          <p:cNvPr id="16" name="Parada B"/>
          <p:cNvSpPr txBox="1"/>
          <p:nvPr/>
        </p:nvSpPr>
        <p:spPr>
          <a:xfrm>
            <a:off x="347472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Parar: resuelto o 2 vueltas sin evidencia nueva</a:t>
            </a:r>
            <a:endParaRPr lang="en-US" sz="1400" dirty="0"/>
          </a:p>
        </p:txBody>
      </p:sp>
      <p:sp>
        <p:nvSpPr>
          <p:cNvPr id="17" name="Tope B"/>
          <p:cNvSpPr txBox="1"/>
          <p:nvPr/>
        </p:nvSpPr>
        <p:spPr>
          <a:xfrm>
            <a:off x="3474720" y="3886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Tope: 4 iteraciones</a:t>
            </a:r>
            <a:endParaRPr lang="en-US" sz="1400" dirty="0"/>
          </a:p>
        </p:txBody>
      </p:sp>
      <p:sp>
        <p:nvSpPr>
          <p:cNvPr id="18" name="Loop C"/>
          <p:cNvSpPr/>
          <p:nvPr/>
        </p:nvSpPr>
        <p:spPr>
          <a:xfrm>
            <a:off x="6035040" y="1234440"/>
            <a:ext cx="2651760" cy="32004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Letra C"/>
          <p:cNvSpPr/>
          <p:nvPr/>
        </p:nvSpPr>
        <p:spPr>
          <a:xfrm>
            <a:off x="626364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Letra C texto"/>
          <p:cNvSpPr txBox="1"/>
          <p:nvPr/>
        </p:nvSpPr>
        <p:spPr>
          <a:xfrm>
            <a:off x="6263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</a:t>
            </a:r>
            <a:endParaRPr lang="en-US" sz="2000" dirty="0"/>
          </a:p>
        </p:txBody>
      </p:sp>
      <p:sp>
        <p:nvSpPr>
          <p:cNvPr id="21" name="Título loop C"/>
          <p:cNvSpPr txBox="1"/>
          <p:nvPr/>
        </p:nvSpPr>
        <p:spPr>
          <a:xfrm>
            <a:off x="694944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Validación</a:t>
            </a:r>
            <a:endParaRPr lang="en-US" sz="1800" dirty="0"/>
          </a:p>
        </p:txBody>
      </p:sp>
      <p:sp>
        <p:nvSpPr>
          <p:cNvPr id="22" name="Agentes C"/>
          <p:cNvSpPr txBox="1"/>
          <p:nvPr/>
        </p:nvSpPr>
        <p:spPr>
          <a:xfrm>
            <a:off x="626364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Validación (con gate humano)</a:t>
            </a:r>
            <a:endParaRPr lang="en-US" sz="1400" dirty="0"/>
          </a:p>
        </p:txBody>
      </p:sp>
      <p:sp>
        <p:nvSpPr>
          <p:cNvPr id="23" name="Parada C"/>
          <p:cNvSpPr txBox="1"/>
          <p:nvPr/>
        </p:nvSpPr>
        <p:spPr>
          <a:xfrm>
            <a:off x="6263640" y="29260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Parar: evidencia suficiente</a:t>
            </a:r>
            <a:endParaRPr lang="en-US" sz="1400" dirty="0"/>
          </a:p>
        </p:txBody>
      </p:sp>
      <p:sp>
        <p:nvSpPr>
          <p:cNvPr id="24" name="Tope C"/>
          <p:cNvSpPr txBox="1"/>
          <p:nvPr/>
        </p:nvSpPr>
        <p:spPr>
          <a:xfrm>
            <a:off x="6263640" y="3886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Tope: 2 intentos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Desarrollo guiado por specs (OpenSpec)</a:t>
            </a:r>
            <a:endParaRPr lang="en-US" sz="3200" dirty="0"/>
          </a:p>
        </p:txBody>
      </p:sp>
      <p:sp>
        <p:nvSpPr>
          <p:cNvPr id="4" name="Paso 1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so 1 texto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o paso 1"/>
          <p:cNvSpPr txBox="1"/>
          <p:nvPr/>
        </p:nvSpPr>
        <p:spPr>
          <a:xfrm>
            <a:off x="109728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Propose: proposal, design y tasks</a:t>
            </a:r>
            <a:endParaRPr lang="en-US" sz="1400" dirty="0"/>
          </a:p>
        </p:txBody>
      </p:sp>
      <p:sp>
        <p:nvSpPr>
          <p:cNvPr id="7" name="Paso 2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aso 2 texto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o paso 2"/>
          <p:cNvSpPr txBox="1"/>
          <p:nvPr/>
        </p:nvSpPr>
        <p:spPr>
          <a:xfrm>
            <a:off x="1097280" y="2057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Review: validación humana del delta</a:t>
            </a:r>
            <a:endParaRPr lang="en-US" sz="1400" dirty="0"/>
          </a:p>
        </p:txBody>
      </p:sp>
      <p:sp>
        <p:nvSpPr>
          <p:cNvPr id="10" name="Paso 3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aso 3 texto"/>
          <p:cNvSpPr txBox="1"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o paso 3"/>
          <p:cNvSpPr txBox="1"/>
          <p:nvPr/>
        </p:nvSpPr>
        <p:spPr>
          <a:xfrm>
            <a:off x="109728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Implement: el agente ejecuta tasks.md</a:t>
            </a:r>
            <a:endParaRPr lang="en-US" sz="1400" dirty="0"/>
          </a:p>
        </p:txBody>
      </p:sp>
      <p:sp>
        <p:nvSpPr>
          <p:cNvPr id="13" name="Paso 4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aso 4 texto"/>
          <p:cNvSpPr txBox="1"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o paso 4"/>
          <p:cNvSpPr txBox="1"/>
          <p:nvPr/>
        </p:nvSpPr>
        <p:spPr>
          <a:xfrm>
            <a:off x="109728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Archive: el delta pasa a specs/</a:t>
            </a:r>
            <a:endParaRPr lang="en-US" sz="1400" dirty="0"/>
          </a:p>
        </p:txBody>
      </p:sp>
      <p:sp>
        <p:nvSpPr>
          <p:cNvPr id="16" name="Bloque Scenario"/>
          <p:cNvSpPr/>
          <p:nvPr/>
        </p:nvSpPr>
        <p:spPr>
          <a:xfrm>
            <a:off x="4480560" y="1280160"/>
            <a:ext cx="4206240" cy="2651760"/>
          </a:xfrm>
          <a:prstGeom prst="roundRect">
            <a:avLst>
              <a:gd name="adj" fmla="val 275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o Scenario"/>
          <p:cNvSpPr txBox="1"/>
          <p:nvPr/>
        </p:nvSpPr>
        <p:spPr>
          <a:xfrm>
            <a:off x="4663440" y="141732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Requirement: Enforcement de alcance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DEBE bloquear toda acción activa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fuera del RoE vigente.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activo fuera de alcance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 RoE que autoriza 10.0.0.0/24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se intenta escanear 10.0.1.5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se bloquea y queda en bitácora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Selección de herramientas</a:t>
            </a:r>
            <a:endParaRPr lang="en-US" sz="3200" dirty="0"/>
          </a:p>
        </p:txBody>
      </p:sp>
      <p:graphicFrame>
        <p:nvGraphicFramePr>
          <p:cNvPr id="10" name="Tabla de herramient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Fase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Herramientas del MVP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Control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Recon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subfinder · httpx · nmap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Pasivo primero; nmap sin scripts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Correlación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Feeds NVD y EPSS · catálogo CWE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Solo datos, sin tocar activos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Análisis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OWASP ZAP (baseline) · Nuclei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Templates curados, sin OAST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Validación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Catálogo interno de verificaciones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Inertes, en sandbox efímero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Reporte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DefectDojo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CWE + CVSS v4 por hallazgo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Descartadas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masscan · Nikto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Agresiva y ruidosa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Qué modelo hace qué</a:t>
            </a:r>
            <a:endParaRPr lang="en-US" sz="3200" dirty="0"/>
          </a:p>
        </p:txBody>
      </p:sp>
      <p:sp>
        <p:nvSpPr>
          <p:cNvPr id="4" name="Tarjeta Opus 5.5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tiqueta Opus 5.5"/>
          <p:cNvSpPr/>
          <p:nvPr/>
        </p:nvSpPr>
        <p:spPr>
          <a:xfrm>
            <a:off x="685800" y="1481328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Nombre Opus 5.5"/>
          <p:cNvSpPr txBox="1"/>
          <p:nvPr/>
        </p:nvSpPr>
        <p:spPr>
          <a:xfrm>
            <a:off x="685800" y="1481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Opus 5.5</a:t>
            </a:r>
            <a:endParaRPr lang="en-US" sz="1300" dirty="0"/>
          </a:p>
        </p:txBody>
      </p:sp>
      <p:sp>
        <p:nvSpPr>
          <p:cNvPr id="7" name="Quién Opus 5.5"/>
          <p:cNvSpPr txBox="1"/>
          <p:nvPr/>
        </p:nvSpPr>
        <p:spPr>
          <a:xfrm>
            <a:off x="68580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Orchestrator · Validación</a:t>
            </a:r>
            <a:endParaRPr lang="en-US" sz="1400" dirty="0"/>
          </a:p>
        </p:txBody>
      </p:sp>
      <p:sp>
        <p:nvSpPr>
          <p:cNvPr id="8" name="Por qué Opus 5.5"/>
          <p:cNvSpPr txBox="1"/>
          <p:nvPr/>
        </p:nvSpPr>
        <p:spPr>
          <a:xfrm>
            <a:off x="685800" y="2331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Planifican y validan: un error es caro</a:t>
            </a:r>
            <a:endParaRPr lang="en-US" sz="1300" dirty="0"/>
          </a:p>
        </p:txBody>
      </p:sp>
      <p:sp>
        <p:nvSpPr>
          <p:cNvPr id="9" name="Tarjeta Sonnet 5.5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tiqueta Sonnet 5.5"/>
          <p:cNvSpPr/>
          <p:nvPr/>
        </p:nvSpPr>
        <p:spPr>
          <a:xfrm>
            <a:off x="4892040" y="1481328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ombre Sonnet 5.5"/>
          <p:cNvSpPr txBox="1"/>
          <p:nvPr/>
        </p:nvSpPr>
        <p:spPr>
          <a:xfrm>
            <a:off x="4892040" y="1481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Sonnet 5.5</a:t>
            </a:r>
            <a:endParaRPr lang="en-US" sz="1300" dirty="0"/>
          </a:p>
        </p:txBody>
      </p:sp>
      <p:sp>
        <p:nvSpPr>
          <p:cNvPr id="12" name="Quién Sonnet 5.5"/>
          <p:cNvSpPr txBox="1"/>
          <p:nvPr/>
        </p:nvSpPr>
        <p:spPr>
          <a:xfrm>
            <a:off x="489204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Recon · Correlación · Análisis · Reporting</a:t>
            </a:r>
            <a:endParaRPr lang="en-US" sz="1400" dirty="0"/>
          </a:p>
        </p:txBody>
      </p:sp>
      <p:sp>
        <p:nvSpPr>
          <p:cNvPr id="13" name="Por qué Sonnet 5.5"/>
          <p:cNvSpPr txBox="1"/>
          <p:nvPr/>
        </p:nvSpPr>
        <p:spPr>
          <a:xfrm>
            <a:off x="4892040" y="2331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Trabajo de volumen medio con salida estructurada</a:t>
            </a:r>
            <a:endParaRPr lang="en-US" sz="1300" dirty="0"/>
          </a:p>
        </p:txBody>
      </p:sp>
      <p:sp>
        <p:nvSpPr>
          <p:cNvPr id="14" name="Tarjeta Haiku 5.5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Etiqueta Haiku 5.5"/>
          <p:cNvSpPr/>
          <p:nvPr/>
        </p:nvSpPr>
        <p:spPr>
          <a:xfrm>
            <a:off x="685800" y="3172968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Nombre Haiku 5.5"/>
          <p:cNvSpPr txBox="1"/>
          <p:nvPr/>
        </p:nvSpPr>
        <p:spPr>
          <a:xfrm>
            <a:off x="685800" y="3172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Haiku 5.5</a:t>
            </a:r>
            <a:endParaRPr lang="en-US" sz="1300" dirty="0"/>
          </a:p>
        </p:txBody>
      </p:sp>
      <p:sp>
        <p:nvSpPr>
          <p:cNvPr id="17" name="Quién Haiku 5.5"/>
          <p:cNvSpPr txBox="1"/>
          <p:nvPr/>
        </p:nvSpPr>
        <p:spPr>
          <a:xfrm>
            <a:off x="685800" y="3657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Triage y parsing</a:t>
            </a:r>
            <a:endParaRPr lang="en-US" sz="1400" dirty="0"/>
          </a:p>
        </p:txBody>
      </p:sp>
      <p:sp>
        <p:nvSpPr>
          <p:cNvPr id="18" name="Por qué Haiku 5.5"/>
          <p:cNvSpPr txBox="1"/>
          <p:nvPr/>
        </p:nvSpPr>
        <p:spPr>
          <a:xfrm>
            <a:off x="685800" y="4023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Alto volumen, bajo riesgo</a:t>
            </a:r>
            <a:endParaRPr lang="en-US" sz="1300" dirty="0"/>
          </a:p>
        </p:txBody>
      </p:sp>
      <p:sp>
        <p:nvSpPr>
          <p:cNvPr id="19" name="Tarjeta Código y humano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Etiqueta Código y humano"/>
          <p:cNvSpPr/>
          <p:nvPr/>
        </p:nvSpPr>
        <p:spPr>
          <a:xfrm>
            <a:off x="4892040" y="3172968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Nombre Código y humano"/>
          <p:cNvSpPr txBox="1"/>
          <p:nvPr/>
        </p:nvSpPr>
        <p:spPr>
          <a:xfrm>
            <a:off x="4892040" y="3172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Código y humano</a:t>
            </a:r>
            <a:endParaRPr lang="en-US" sz="1300" dirty="0"/>
          </a:p>
        </p:txBody>
      </p:sp>
      <p:sp>
        <p:nvSpPr>
          <p:cNvPr id="22" name="Quién Código y humano"/>
          <p:cNvSpPr txBox="1"/>
          <p:nvPr/>
        </p:nvSpPr>
        <p:spPr>
          <a:xfrm>
            <a:off x="4892040" y="3657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Scope Guard · Reviewer</a:t>
            </a:r>
            <a:endParaRPr lang="en-US" sz="1400" dirty="0"/>
          </a:p>
        </p:txBody>
      </p:sp>
      <p:sp>
        <p:nvSpPr>
          <p:cNvPr id="23" name="Por qué Código y humano"/>
          <p:cNvSpPr txBox="1"/>
          <p:nvPr/>
        </p:nvSpPr>
        <p:spPr>
          <a:xfrm>
            <a:off x="4892040" y="4023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La autorización no es probabilística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 MVP: un recorrido completo</a:t>
            </a:r>
            <a:endParaRPr lang="en-US" sz="3200" dirty="0"/>
          </a:p>
        </p:txBody>
      </p:sp>
      <p:sp>
        <p:nvSpPr>
          <p:cNvPr id="4" name="Etapa 1"/>
          <p:cNvSpPr/>
          <p:nvPr/>
        </p:nvSpPr>
        <p:spPr>
          <a:xfrm>
            <a:off x="457200" y="123444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o etapa 1"/>
          <p:cNvSpPr txBox="1"/>
          <p:nvPr/>
        </p:nvSpPr>
        <p:spPr>
          <a:xfrm>
            <a:off x="502920" y="1234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RoE → token</a:t>
            </a:r>
            <a:endParaRPr lang="en-US" sz="1300" dirty="0"/>
          </a:p>
        </p:txBody>
      </p:sp>
      <p:sp>
        <p:nvSpPr>
          <p:cNvPr id="6" name="Etapa 2"/>
          <p:cNvSpPr/>
          <p:nvPr/>
        </p:nvSpPr>
        <p:spPr>
          <a:xfrm>
            <a:off x="1847088" y="123444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o etapa 2"/>
          <p:cNvSpPr txBox="1"/>
          <p:nvPr/>
        </p:nvSpPr>
        <p:spPr>
          <a:xfrm>
            <a:off x="1892808" y="1234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Recon</a:t>
            </a:r>
            <a:endParaRPr lang="en-US" sz="1300" dirty="0"/>
          </a:p>
        </p:txBody>
      </p:sp>
      <p:sp>
        <p:nvSpPr>
          <p:cNvPr id="8" name="Etapa 3"/>
          <p:cNvSpPr/>
          <p:nvPr/>
        </p:nvSpPr>
        <p:spPr>
          <a:xfrm>
            <a:off x="3236976" y="123444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o etapa 3"/>
          <p:cNvSpPr txBox="1"/>
          <p:nvPr/>
        </p:nvSpPr>
        <p:spPr>
          <a:xfrm>
            <a:off x="3282696" y="1234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Correlación</a:t>
            </a:r>
            <a:endParaRPr lang="en-US" sz="1300" dirty="0"/>
          </a:p>
        </p:txBody>
      </p:sp>
      <p:sp>
        <p:nvSpPr>
          <p:cNvPr id="10" name="Etapa 4"/>
          <p:cNvSpPr/>
          <p:nvPr/>
        </p:nvSpPr>
        <p:spPr>
          <a:xfrm>
            <a:off x="4626864" y="123444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o etapa 4"/>
          <p:cNvSpPr txBox="1"/>
          <p:nvPr/>
        </p:nvSpPr>
        <p:spPr>
          <a:xfrm>
            <a:off x="4672584" y="1234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Análisis</a:t>
            </a:r>
            <a:endParaRPr lang="en-US" sz="1300" dirty="0"/>
          </a:p>
        </p:txBody>
      </p:sp>
      <p:sp>
        <p:nvSpPr>
          <p:cNvPr id="12" name="Etapa 5"/>
          <p:cNvSpPr/>
          <p:nvPr/>
        </p:nvSpPr>
        <p:spPr>
          <a:xfrm>
            <a:off x="6016752" y="123444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o etapa 5"/>
          <p:cNvSpPr txBox="1"/>
          <p:nvPr/>
        </p:nvSpPr>
        <p:spPr>
          <a:xfrm>
            <a:off x="6062472" y="1234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Validar 1 hallazgo</a:t>
            </a:r>
            <a:endParaRPr lang="en-US" sz="1300" dirty="0"/>
          </a:p>
        </p:txBody>
      </p:sp>
      <p:sp>
        <p:nvSpPr>
          <p:cNvPr id="14" name="Etapa 6"/>
          <p:cNvSpPr/>
          <p:nvPr/>
        </p:nvSpPr>
        <p:spPr>
          <a:xfrm>
            <a:off x="7406640" y="123444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o etapa 6"/>
          <p:cNvSpPr txBox="1"/>
          <p:nvPr/>
        </p:nvSpPr>
        <p:spPr>
          <a:xfrm>
            <a:off x="7452360" y="12344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Informe</a:t>
            </a:r>
            <a:endParaRPr lang="en-US" sz="1300" dirty="0"/>
          </a:p>
        </p:txBody>
      </p:sp>
      <p:sp>
        <p:nvSpPr>
          <p:cNvPr id="16" name="Subtítulo criterios"/>
          <p:cNvSpPr txBox="1"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Criterios de aceptación</a:t>
            </a:r>
            <a:endParaRPr lang="en-US" sz="1800" dirty="0"/>
          </a:p>
        </p:txBody>
      </p:sp>
      <p:sp>
        <p:nvSpPr>
          <p:cNvPr id="17" name="Criterio 1"/>
          <p:cNvSpPr/>
          <p:nvPr/>
        </p:nvSpPr>
        <p:spPr>
          <a:xfrm>
            <a:off x="45720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Check 1"/>
          <p:cNvSpPr/>
          <p:nvPr/>
        </p:nvSpPr>
        <p:spPr>
          <a:xfrm>
            <a:off x="640080" y="3017520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Check 1 texto"/>
          <p:cNvSpPr txBox="1"/>
          <p:nvPr/>
        </p:nvSpPr>
        <p:spPr>
          <a:xfrm>
            <a:off x="64008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o criterio 1"/>
          <p:cNvSpPr txBox="1"/>
          <p:nvPr/>
        </p:nvSpPr>
        <p:spPr>
          <a:xfrm>
            <a:off x="640080" y="3566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Toda acción activa tiene un scope token vivo y queda en bitácora</a:t>
            </a:r>
            <a:endParaRPr lang="en-US" sz="1300" dirty="0"/>
          </a:p>
        </p:txBody>
      </p:sp>
      <p:sp>
        <p:nvSpPr>
          <p:cNvPr id="21" name="Criterio 2"/>
          <p:cNvSpPr/>
          <p:nvPr/>
        </p:nvSpPr>
        <p:spPr>
          <a:xfrm>
            <a:off x="324612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heck 2"/>
          <p:cNvSpPr/>
          <p:nvPr/>
        </p:nvSpPr>
        <p:spPr>
          <a:xfrm>
            <a:off x="3429000" y="3017520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Check 2 texto"/>
          <p:cNvSpPr txBox="1"/>
          <p:nvPr/>
        </p:nvSpPr>
        <p:spPr>
          <a:xfrm>
            <a:off x="34290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o criterio 2"/>
          <p:cNvSpPr txBox="1"/>
          <p:nvPr/>
        </p:nvSpPr>
        <p:spPr>
          <a:xfrm>
            <a:off x="3429000" y="3566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 intento fuera de alcance se bloquea y se registra</a:t>
            </a:r>
            <a:endParaRPr lang="en-US" sz="1300" dirty="0"/>
          </a:p>
        </p:txBody>
      </p:sp>
      <p:sp>
        <p:nvSpPr>
          <p:cNvPr id="25" name="Criterio 3"/>
          <p:cNvSpPr/>
          <p:nvPr/>
        </p:nvSpPr>
        <p:spPr>
          <a:xfrm>
            <a:off x="6035040" y="288036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Check 3"/>
          <p:cNvSpPr/>
          <p:nvPr/>
        </p:nvSpPr>
        <p:spPr>
          <a:xfrm>
            <a:off x="6217920" y="3017520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Check 3 texto"/>
          <p:cNvSpPr txBox="1"/>
          <p:nvPr/>
        </p:nvSpPr>
        <p:spPr>
          <a:xfrm>
            <a:off x="621792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28" name="Texto criterio 3"/>
          <p:cNvSpPr txBox="1"/>
          <p:nvPr/>
        </p:nvSpPr>
        <p:spPr>
          <a:xfrm>
            <a:off x="6217920" y="3566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Cada hallazgo del informe tiene CWE, CVSS v4 y remediación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Qué entregan y cómo se evalúa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ubtítulo entregables"/>
          <p:cNvSpPr txBox="1"/>
          <p:nvPr/>
        </p:nvSpPr>
        <p:spPr>
          <a:xfrm>
            <a:off x="548640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Entregables</a:t>
            </a:r>
            <a:endParaRPr lang="en-US" sz="1800" dirty="0"/>
          </a:p>
        </p:txBody>
      </p:sp>
      <p:sp>
        <p:nvSpPr>
          <p:cNvPr id="6" name="Lista de entregables"/>
          <p:cNvSpPr txBox="1"/>
          <p:nvPr/>
        </p:nvSpPr>
        <p:spPr>
          <a:xfrm>
            <a:off x="5486400" y="169164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Changes 002–007 archivados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11 specs con tests (progress.py)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 3 loops funcionando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Demo end-to-end en el lab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Informe técnico y retrospectiva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15 días, 3 sprints</a:t>
            </a:r>
            <a:endParaRPr lang="en-US" sz="3200" dirty="0"/>
          </a:p>
        </p:txBody>
      </p:sp>
      <p:sp>
        <p:nvSpPr>
          <p:cNvPr id="4" name="Sprint 1"/>
          <p:cNvSpPr/>
          <p:nvPr/>
        </p:nvSpPr>
        <p:spPr>
          <a:xfrm>
            <a:off x="457200" y="1188720"/>
            <a:ext cx="2651760" cy="33375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 sprint 1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úmero sprint 1 texto"/>
          <p:cNvSpPr txBox="1"/>
          <p:nvPr/>
        </p:nvSpPr>
        <p:spPr>
          <a:xfrm>
            <a:off x="64008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Días sprint 1"/>
          <p:cNvSpPr txBox="1"/>
          <p:nvPr/>
        </p:nvSpPr>
        <p:spPr>
          <a:xfrm>
            <a:off x="1234440" y="1353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Días 1–5</a:t>
            </a:r>
            <a:endParaRPr lang="en-US" sz="1400" dirty="0"/>
          </a:p>
        </p:txBody>
      </p:sp>
      <p:sp>
        <p:nvSpPr>
          <p:cNvPr id="8" name="Nombre sprint 1"/>
          <p:cNvSpPr txBox="1"/>
          <p:nvPr/>
        </p:nvSpPr>
        <p:spPr>
          <a:xfrm>
            <a:off x="640080" y="1920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Dominar y endurecer el núcleo</a:t>
            </a:r>
            <a:endParaRPr lang="en-US" sz="1500" dirty="0"/>
          </a:p>
        </p:txBody>
      </p:sp>
      <p:sp>
        <p:nvSpPr>
          <p:cNvPr id="9" name="Lista sprint 1"/>
          <p:cNvSpPr txBox="1"/>
          <p:nvPr/>
        </p:nvSpPr>
        <p:spPr>
          <a:xfrm>
            <a:off x="640080" y="25603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Specs ampliadas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Bitácora persistente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RoE y scope tokens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Red team del guard</a:t>
            </a:r>
            <a:endParaRPr lang="en-US" sz="1300" dirty="0"/>
          </a:p>
        </p:txBody>
      </p:sp>
      <p:sp>
        <p:nvSpPr>
          <p:cNvPr id="10" name="Etiqueta checkpoint 1"/>
          <p:cNvSpPr/>
          <p:nvPr/>
        </p:nvSpPr>
        <p:spPr>
          <a:xfrm>
            <a:off x="640080" y="4023360"/>
            <a:ext cx="22860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o checkpoint 1"/>
          <p:cNvSpPr txBox="1"/>
          <p:nvPr/>
        </p:nvSpPr>
        <p:spPr>
          <a:xfrm>
            <a:off x="64008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Checkpoint 1</a:t>
            </a:r>
            <a:endParaRPr lang="en-US" sz="1300" dirty="0"/>
          </a:p>
        </p:txBody>
      </p:sp>
      <p:sp>
        <p:nvSpPr>
          <p:cNvPr id="12" name="Sprint 2"/>
          <p:cNvSpPr/>
          <p:nvPr/>
        </p:nvSpPr>
        <p:spPr>
          <a:xfrm>
            <a:off x="3246120" y="1188720"/>
            <a:ext cx="2651760" cy="33375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úmero sprint 2"/>
          <p:cNvSpPr/>
          <p:nvPr/>
        </p:nvSpPr>
        <p:spPr>
          <a:xfrm>
            <a:off x="3429000" y="135331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Número sprint 2 texto"/>
          <p:cNvSpPr txBox="1"/>
          <p:nvPr/>
        </p:nvSpPr>
        <p:spPr>
          <a:xfrm>
            <a:off x="342900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Días sprint 2"/>
          <p:cNvSpPr txBox="1"/>
          <p:nvPr/>
        </p:nvSpPr>
        <p:spPr>
          <a:xfrm>
            <a:off x="4023360" y="1353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Días 6–10</a:t>
            </a:r>
            <a:endParaRPr lang="en-US" sz="1400" dirty="0"/>
          </a:p>
        </p:txBody>
      </p:sp>
      <p:sp>
        <p:nvSpPr>
          <p:cNvPr id="16" name="Nombre sprint 2"/>
          <p:cNvSpPr txBox="1"/>
          <p:nvPr/>
        </p:nvSpPr>
        <p:spPr>
          <a:xfrm>
            <a:off x="3429000" y="1920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Conectar el swarm</a:t>
            </a:r>
            <a:endParaRPr lang="en-US" sz="1500" dirty="0"/>
          </a:p>
        </p:txBody>
      </p:sp>
      <p:sp>
        <p:nvSpPr>
          <p:cNvPr id="17" name="Lista sprint 2"/>
          <p:cNvSpPr txBox="1"/>
          <p:nvPr/>
        </p:nvSpPr>
        <p:spPr>
          <a:xfrm>
            <a:off x="3429000" y="25603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Recon real y loop A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Correlación y loop B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ZAP y Nuclei curado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Evals con modelos</a:t>
            </a:r>
            <a:endParaRPr lang="en-US" sz="1300" dirty="0"/>
          </a:p>
        </p:txBody>
      </p:sp>
      <p:sp>
        <p:nvSpPr>
          <p:cNvPr id="18" name="Etiqueta checkpoint 2"/>
          <p:cNvSpPr/>
          <p:nvPr/>
        </p:nvSpPr>
        <p:spPr>
          <a:xfrm>
            <a:off x="3429000" y="4023360"/>
            <a:ext cx="2286000" cy="3657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o checkpoint 2"/>
          <p:cNvSpPr txBox="1"/>
          <p:nvPr/>
        </p:nvSpPr>
        <p:spPr>
          <a:xfrm>
            <a:off x="342900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Checkpoint 2</a:t>
            </a:r>
            <a:endParaRPr lang="en-US" sz="1300" dirty="0"/>
          </a:p>
        </p:txBody>
      </p:sp>
      <p:sp>
        <p:nvSpPr>
          <p:cNvPr id="20" name="Sprint 3"/>
          <p:cNvSpPr/>
          <p:nvPr/>
        </p:nvSpPr>
        <p:spPr>
          <a:xfrm>
            <a:off x="6035040" y="1188720"/>
            <a:ext cx="2651760" cy="33375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úmero sprint 3"/>
          <p:cNvSpPr/>
          <p:nvPr/>
        </p:nvSpPr>
        <p:spPr>
          <a:xfrm>
            <a:off x="6217920" y="135331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Número sprint 3 texto"/>
          <p:cNvSpPr txBox="1"/>
          <p:nvPr/>
        </p:nvSpPr>
        <p:spPr>
          <a:xfrm>
            <a:off x="621792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Días sprint 3"/>
          <p:cNvSpPr txBox="1"/>
          <p:nvPr/>
        </p:nvSpPr>
        <p:spPr>
          <a:xfrm>
            <a:off x="6812280" y="1353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Días 11–15</a:t>
            </a:r>
            <a:endParaRPr lang="en-US" sz="1400" dirty="0"/>
          </a:p>
        </p:txBody>
      </p:sp>
      <p:sp>
        <p:nvSpPr>
          <p:cNvPr id="24" name="Nombre sprint 3"/>
          <p:cNvSpPr txBox="1"/>
          <p:nvPr/>
        </p:nvSpPr>
        <p:spPr>
          <a:xfrm>
            <a:off x="6217920" y="1920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Validar, reportar y defender</a:t>
            </a:r>
            <a:endParaRPr lang="en-US" sz="1500" dirty="0"/>
          </a:p>
        </p:txBody>
      </p:sp>
      <p:sp>
        <p:nvSpPr>
          <p:cNvPr id="25" name="Lista sprint 3"/>
          <p:cNvSpPr txBox="1"/>
          <p:nvPr/>
        </p:nvSpPr>
        <p:spPr>
          <a:xfrm>
            <a:off x="6217920" y="25603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Sandbox y loop C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Informe y DefectDojo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Integración end-to-end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Demo final</a:t>
            </a:r>
            <a:endParaRPr lang="en-US" sz="1300" dirty="0"/>
          </a:p>
        </p:txBody>
      </p:sp>
      <p:sp>
        <p:nvSpPr>
          <p:cNvPr id="26" name="Etiqueta checkpoint 3"/>
          <p:cNvSpPr/>
          <p:nvPr/>
        </p:nvSpPr>
        <p:spPr>
          <a:xfrm>
            <a:off x="6217920" y="4023360"/>
            <a:ext cx="22860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o checkpoint 3"/>
          <p:cNvSpPr txBox="1"/>
          <p:nvPr/>
        </p:nvSpPr>
        <p:spPr>
          <a:xfrm>
            <a:off x="621792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Checkpoint 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Seis changes que evolucionan el MVP</a:t>
            </a:r>
            <a:endParaRPr lang="en-US" sz="3200" dirty="0"/>
          </a:p>
        </p:txBody>
      </p:sp>
      <p:sp>
        <p:nvSpPr>
          <p:cNvPr id="4" name="Change 002"/>
          <p:cNvSpPr/>
          <p:nvPr/>
        </p:nvSpPr>
        <p:spPr>
          <a:xfrm>
            <a:off x="457200" y="123444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tiqueta 002"/>
          <p:cNvSpPr/>
          <p:nvPr/>
        </p:nvSpPr>
        <p:spPr>
          <a:xfrm>
            <a:off x="640080" y="1417320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úmero 002"/>
          <p:cNvSpPr txBox="1"/>
          <p:nvPr/>
        </p:nvSpPr>
        <p:spPr>
          <a:xfrm>
            <a:off x="640080" y="141732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002</a:t>
            </a:r>
            <a:endParaRPr lang="en-US" sz="1300" dirty="0"/>
          </a:p>
        </p:txBody>
      </p:sp>
      <p:sp>
        <p:nvSpPr>
          <p:cNvPr id="7" name="Sprint 002"/>
          <p:cNvSpPr txBox="1"/>
          <p:nvPr/>
        </p:nvSpPr>
        <p:spPr>
          <a:xfrm>
            <a:off x="1463040" y="1417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Sprint 1</a:t>
            </a:r>
            <a:endParaRPr lang="en-US" sz="1200" dirty="0"/>
          </a:p>
        </p:txBody>
      </p:sp>
      <p:sp>
        <p:nvSpPr>
          <p:cNvPr id="8" name="Título 002"/>
          <p:cNvSpPr txBox="1"/>
          <p:nvPr/>
        </p:nvSpPr>
        <p:spPr>
          <a:xfrm>
            <a:off x="64008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Bitácora persistente</a:t>
            </a:r>
            <a:endParaRPr lang="en-US" sz="1600" dirty="0"/>
          </a:p>
        </p:txBody>
      </p:sp>
      <p:sp>
        <p:nvSpPr>
          <p:cNvPr id="9" name="Detalle 002"/>
          <p:cNvSpPr txBox="1"/>
          <p:nvPr/>
        </p:nvSpPr>
        <p:spPr>
          <a:xfrm>
            <a:off x="640080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SQLite append-only y verificador</a:t>
            </a:r>
            <a:endParaRPr lang="en-US" sz="1300" dirty="0"/>
          </a:p>
        </p:txBody>
      </p:sp>
      <p:sp>
        <p:nvSpPr>
          <p:cNvPr id="10" name="Change 003"/>
          <p:cNvSpPr/>
          <p:nvPr/>
        </p:nvSpPr>
        <p:spPr>
          <a:xfrm>
            <a:off x="3246120" y="123444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Etiqueta 003"/>
          <p:cNvSpPr/>
          <p:nvPr/>
        </p:nvSpPr>
        <p:spPr>
          <a:xfrm>
            <a:off x="3429000" y="1417320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úmero 003"/>
          <p:cNvSpPr txBox="1"/>
          <p:nvPr/>
        </p:nvSpPr>
        <p:spPr>
          <a:xfrm>
            <a:off x="3429000" y="141732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003</a:t>
            </a:r>
            <a:endParaRPr lang="en-US" sz="1300" dirty="0"/>
          </a:p>
        </p:txBody>
      </p:sp>
      <p:sp>
        <p:nvSpPr>
          <p:cNvPr id="13" name="Sprint 003"/>
          <p:cNvSpPr txBox="1"/>
          <p:nvPr/>
        </p:nvSpPr>
        <p:spPr>
          <a:xfrm>
            <a:off x="4251960" y="1417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Sprint 1</a:t>
            </a:r>
            <a:endParaRPr lang="en-US" sz="1200" dirty="0"/>
          </a:p>
        </p:txBody>
      </p:sp>
      <p:sp>
        <p:nvSpPr>
          <p:cNvPr id="14" name="Título 003"/>
          <p:cNvSpPr txBox="1"/>
          <p:nvPr/>
        </p:nvSpPr>
        <p:spPr>
          <a:xfrm>
            <a:off x="342900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RoE y tokens</a:t>
            </a:r>
            <a:endParaRPr lang="en-US" sz="1600" dirty="0"/>
          </a:p>
        </p:txBody>
      </p:sp>
      <p:sp>
        <p:nvSpPr>
          <p:cNvPr id="15" name="Detalle 003"/>
          <p:cNvSpPr txBox="1"/>
          <p:nvPr/>
        </p:nvSpPr>
        <p:spPr>
          <a:xfrm>
            <a:off x="3429000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Parser de RoE y emisor por fase</a:t>
            </a:r>
            <a:endParaRPr lang="en-US" sz="1300" dirty="0"/>
          </a:p>
        </p:txBody>
      </p:sp>
      <p:sp>
        <p:nvSpPr>
          <p:cNvPr id="16" name="Change 004"/>
          <p:cNvSpPr/>
          <p:nvPr/>
        </p:nvSpPr>
        <p:spPr>
          <a:xfrm>
            <a:off x="6035040" y="123444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Etiqueta 004"/>
          <p:cNvSpPr/>
          <p:nvPr/>
        </p:nvSpPr>
        <p:spPr>
          <a:xfrm>
            <a:off x="6217920" y="1417320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úmero 004"/>
          <p:cNvSpPr txBox="1"/>
          <p:nvPr/>
        </p:nvSpPr>
        <p:spPr>
          <a:xfrm>
            <a:off x="6217920" y="141732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004</a:t>
            </a:r>
            <a:endParaRPr lang="en-US" sz="1300" dirty="0"/>
          </a:p>
        </p:txBody>
      </p:sp>
      <p:sp>
        <p:nvSpPr>
          <p:cNvPr id="19" name="Sprint 004"/>
          <p:cNvSpPr txBox="1"/>
          <p:nvPr/>
        </p:nvSpPr>
        <p:spPr>
          <a:xfrm>
            <a:off x="7040880" y="14173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Sprint 2</a:t>
            </a:r>
            <a:endParaRPr lang="en-US" sz="1200" dirty="0"/>
          </a:p>
        </p:txBody>
      </p:sp>
      <p:sp>
        <p:nvSpPr>
          <p:cNvPr id="20" name="Título 004"/>
          <p:cNvSpPr txBox="1"/>
          <p:nvPr/>
        </p:nvSpPr>
        <p:spPr>
          <a:xfrm>
            <a:off x="6217920" y="1874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Recon y loop A</a:t>
            </a:r>
            <a:endParaRPr lang="en-US" sz="1600" dirty="0"/>
          </a:p>
        </p:txBody>
      </p:sp>
      <p:sp>
        <p:nvSpPr>
          <p:cNvPr id="21" name="Detalle 004"/>
          <p:cNvSpPr txBox="1"/>
          <p:nvPr/>
        </p:nvSpPr>
        <p:spPr>
          <a:xfrm>
            <a:off x="6217920" y="22402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subfinder, httpx y grafo de activos</a:t>
            </a:r>
            <a:endParaRPr lang="en-US" sz="1300" dirty="0"/>
          </a:p>
        </p:txBody>
      </p:sp>
      <p:sp>
        <p:nvSpPr>
          <p:cNvPr id="22" name="Change 005"/>
          <p:cNvSpPr/>
          <p:nvPr/>
        </p:nvSpPr>
        <p:spPr>
          <a:xfrm>
            <a:off x="457200" y="292608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Etiqueta 005"/>
          <p:cNvSpPr/>
          <p:nvPr/>
        </p:nvSpPr>
        <p:spPr>
          <a:xfrm>
            <a:off x="640080" y="3108960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Número 005"/>
          <p:cNvSpPr txBox="1"/>
          <p:nvPr/>
        </p:nvSpPr>
        <p:spPr>
          <a:xfrm>
            <a:off x="640080" y="310896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005</a:t>
            </a:r>
            <a:endParaRPr lang="en-US" sz="1300" dirty="0"/>
          </a:p>
        </p:txBody>
      </p:sp>
      <p:sp>
        <p:nvSpPr>
          <p:cNvPr id="25" name="Sprint 005"/>
          <p:cNvSpPr txBox="1"/>
          <p:nvPr/>
        </p:nvSpPr>
        <p:spPr>
          <a:xfrm>
            <a:off x="1463040" y="31089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Sprint 2</a:t>
            </a:r>
            <a:endParaRPr lang="en-US" sz="1200" dirty="0"/>
          </a:p>
        </p:txBody>
      </p:sp>
      <p:sp>
        <p:nvSpPr>
          <p:cNvPr id="26" name="Título 005"/>
          <p:cNvSpPr txBox="1"/>
          <p:nvPr/>
        </p:nvSpPr>
        <p:spPr>
          <a:xfrm>
            <a:off x="640080" y="3566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Correlación y loop B</a:t>
            </a:r>
            <a:endParaRPr lang="en-US" sz="1600" dirty="0"/>
          </a:p>
        </p:txBody>
      </p:sp>
      <p:sp>
        <p:nvSpPr>
          <p:cNvPr id="27" name="Detalle 005"/>
          <p:cNvSpPr txBox="1"/>
          <p:nvPr/>
        </p:nvSpPr>
        <p:spPr>
          <a:xfrm>
            <a:off x="640080" y="3931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NVD/EPSS offline, ZAP y Nuclei</a:t>
            </a:r>
            <a:endParaRPr lang="en-US" sz="1300" dirty="0"/>
          </a:p>
        </p:txBody>
      </p:sp>
      <p:sp>
        <p:nvSpPr>
          <p:cNvPr id="28" name="Change 006"/>
          <p:cNvSpPr/>
          <p:nvPr/>
        </p:nvSpPr>
        <p:spPr>
          <a:xfrm>
            <a:off x="3246120" y="292608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Etiqueta 006"/>
          <p:cNvSpPr/>
          <p:nvPr/>
        </p:nvSpPr>
        <p:spPr>
          <a:xfrm>
            <a:off x="3429000" y="3108960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Número 006"/>
          <p:cNvSpPr txBox="1"/>
          <p:nvPr/>
        </p:nvSpPr>
        <p:spPr>
          <a:xfrm>
            <a:off x="3429000" y="310896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006</a:t>
            </a:r>
            <a:endParaRPr lang="en-US" sz="1300" dirty="0"/>
          </a:p>
        </p:txBody>
      </p:sp>
      <p:sp>
        <p:nvSpPr>
          <p:cNvPr id="31" name="Sprint 006"/>
          <p:cNvSpPr txBox="1"/>
          <p:nvPr/>
        </p:nvSpPr>
        <p:spPr>
          <a:xfrm>
            <a:off x="4251960" y="31089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Sprint 3</a:t>
            </a:r>
            <a:endParaRPr lang="en-US" sz="1200" dirty="0"/>
          </a:p>
        </p:txBody>
      </p:sp>
      <p:sp>
        <p:nvSpPr>
          <p:cNvPr id="32" name="Título 006"/>
          <p:cNvSpPr txBox="1"/>
          <p:nvPr/>
        </p:nvSpPr>
        <p:spPr>
          <a:xfrm>
            <a:off x="3429000" y="3566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Sandbox y loop C</a:t>
            </a:r>
            <a:endParaRPr lang="en-US" sz="1600" dirty="0"/>
          </a:p>
        </p:txBody>
      </p:sp>
      <p:sp>
        <p:nvSpPr>
          <p:cNvPr id="33" name="Detalle 006"/>
          <p:cNvSpPr txBox="1"/>
          <p:nvPr/>
        </p:nvSpPr>
        <p:spPr>
          <a:xfrm>
            <a:off x="3429000" y="3931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Entorno efímero y gate humano</a:t>
            </a:r>
            <a:endParaRPr lang="en-US" sz="1300" dirty="0"/>
          </a:p>
        </p:txBody>
      </p:sp>
      <p:sp>
        <p:nvSpPr>
          <p:cNvPr id="34" name="Change 007"/>
          <p:cNvSpPr/>
          <p:nvPr/>
        </p:nvSpPr>
        <p:spPr>
          <a:xfrm>
            <a:off x="6035040" y="292608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Etiqueta 007"/>
          <p:cNvSpPr/>
          <p:nvPr/>
        </p:nvSpPr>
        <p:spPr>
          <a:xfrm>
            <a:off x="6217920" y="3108960"/>
            <a:ext cx="6858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Número 007"/>
          <p:cNvSpPr txBox="1"/>
          <p:nvPr/>
        </p:nvSpPr>
        <p:spPr>
          <a:xfrm>
            <a:off x="6217920" y="310896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007</a:t>
            </a:r>
            <a:endParaRPr lang="en-US" sz="1300" dirty="0"/>
          </a:p>
        </p:txBody>
      </p:sp>
      <p:sp>
        <p:nvSpPr>
          <p:cNvPr id="37" name="Sprint 007"/>
          <p:cNvSpPr txBox="1"/>
          <p:nvPr/>
        </p:nvSpPr>
        <p:spPr>
          <a:xfrm>
            <a:off x="7040880" y="31089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Sprint 3</a:t>
            </a:r>
            <a:endParaRPr lang="en-US" sz="1200" dirty="0"/>
          </a:p>
        </p:txBody>
      </p:sp>
      <p:sp>
        <p:nvSpPr>
          <p:cNvPr id="38" name="Título 007"/>
          <p:cNvSpPr txBox="1"/>
          <p:nvPr/>
        </p:nvSpPr>
        <p:spPr>
          <a:xfrm>
            <a:off x="6217920" y="3566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Informe y DefectDojo</a:t>
            </a:r>
            <a:endParaRPr lang="en-US" sz="1600" dirty="0"/>
          </a:p>
        </p:txBody>
      </p:sp>
      <p:sp>
        <p:nvSpPr>
          <p:cNvPr id="39" name="Detalle 007"/>
          <p:cNvSpPr txBox="1"/>
          <p:nvPr/>
        </p:nvSpPr>
        <p:spPr>
          <a:xfrm>
            <a:off x="6217920" y="3931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CWE, CVSS v4 y exportación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 rutina diaria (≈ 2 horas)</a:t>
            </a:r>
            <a:endParaRPr lang="en-US" sz="3200" dirty="0"/>
          </a:p>
        </p:txBody>
      </p:sp>
      <p:sp>
        <p:nvSpPr>
          <p:cNvPr id="4" name="Paso Arrancar"/>
          <p:cNvSpPr/>
          <p:nvPr/>
        </p:nvSpPr>
        <p:spPr>
          <a:xfrm>
            <a:off x="457200" y="1280160"/>
            <a:ext cx="1280160" cy="21945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inutos Arrancar"/>
          <p:cNvSpPr txBox="1"/>
          <p:nvPr/>
        </p:nvSpPr>
        <p:spPr>
          <a:xfrm>
            <a:off x="548640" y="1417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10'</a:t>
            </a:r>
            <a:endParaRPr lang="en-US" sz="3200" dirty="0"/>
          </a:p>
        </p:txBody>
      </p:sp>
      <p:sp>
        <p:nvSpPr>
          <p:cNvPr id="6" name="Nombre Arrancar"/>
          <p:cNvSpPr txBox="1"/>
          <p:nvPr/>
        </p:nvSpPr>
        <p:spPr>
          <a:xfrm>
            <a:off x="54864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Arrancar</a:t>
            </a:r>
            <a:endParaRPr lang="en-US" sz="1400" dirty="0"/>
          </a:p>
        </p:txBody>
      </p:sp>
      <p:sp>
        <p:nvSpPr>
          <p:cNvPr id="7" name="Detalle Arrancar"/>
          <p:cNvSpPr txBox="1"/>
          <p:nvPr/>
        </p:nvSpPr>
        <p:spPr>
          <a:xfrm>
            <a:off x="548640" y="2606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Tests y progress.py</a:t>
            </a:r>
            <a:endParaRPr lang="en-US" sz="1200" dirty="0"/>
          </a:p>
        </p:txBody>
      </p:sp>
      <p:sp>
        <p:nvSpPr>
          <p:cNvPr id="8" name="Paso Spec"/>
          <p:cNvSpPr/>
          <p:nvPr/>
        </p:nvSpPr>
        <p:spPr>
          <a:xfrm>
            <a:off x="1847088" y="1280160"/>
            <a:ext cx="1280160" cy="21945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inutos Spec"/>
          <p:cNvSpPr txBox="1"/>
          <p:nvPr/>
        </p:nvSpPr>
        <p:spPr>
          <a:xfrm>
            <a:off x="1938528" y="1417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25'</a:t>
            </a:r>
            <a:endParaRPr lang="en-US" sz="3200" dirty="0"/>
          </a:p>
        </p:txBody>
      </p:sp>
      <p:sp>
        <p:nvSpPr>
          <p:cNvPr id="10" name="Nombre Spec"/>
          <p:cNvSpPr txBox="1"/>
          <p:nvPr/>
        </p:nvSpPr>
        <p:spPr>
          <a:xfrm>
            <a:off x="1938528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Spec</a:t>
            </a:r>
            <a:endParaRPr lang="en-US" sz="1400" dirty="0"/>
          </a:p>
        </p:txBody>
      </p:sp>
      <p:sp>
        <p:nvSpPr>
          <p:cNvPr id="11" name="Detalle Spec"/>
          <p:cNvSpPr txBox="1"/>
          <p:nvPr/>
        </p:nvSpPr>
        <p:spPr>
          <a:xfrm>
            <a:off x="1938528" y="2606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Delta con caso negativo</a:t>
            </a:r>
            <a:endParaRPr lang="en-US" sz="1200" dirty="0"/>
          </a:p>
        </p:txBody>
      </p:sp>
      <p:sp>
        <p:nvSpPr>
          <p:cNvPr id="12" name="Paso Test primero"/>
          <p:cNvSpPr/>
          <p:nvPr/>
        </p:nvSpPr>
        <p:spPr>
          <a:xfrm>
            <a:off x="3236976" y="1280160"/>
            <a:ext cx="1280160" cy="21945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Minutos Test primero"/>
          <p:cNvSpPr txBox="1"/>
          <p:nvPr/>
        </p:nvSpPr>
        <p:spPr>
          <a:xfrm>
            <a:off x="3328416" y="1417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25'</a:t>
            </a:r>
            <a:endParaRPr lang="en-US" sz="3200" dirty="0"/>
          </a:p>
        </p:txBody>
      </p:sp>
      <p:sp>
        <p:nvSpPr>
          <p:cNvPr id="14" name="Nombre Test primero"/>
          <p:cNvSpPr txBox="1"/>
          <p:nvPr/>
        </p:nvSpPr>
        <p:spPr>
          <a:xfrm>
            <a:off x="3328416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 primero</a:t>
            </a:r>
            <a:endParaRPr lang="en-US" sz="1400" dirty="0"/>
          </a:p>
        </p:txBody>
      </p:sp>
      <p:sp>
        <p:nvSpPr>
          <p:cNvPr id="15" name="Detalle Test primero"/>
          <p:cNvSpPr txBox="1"/>
          <p:nvPr/>
        </p:nvSpPr>
        <p:spPr>
          <a:xfrm>
            <a:off x="3328416" y="2606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Debe fallar por la razón correcta</a:t>
            </a:r>
            <a:endParaRPr lang="en-US" sz="1200" dirty="0"/>
          </a:p>
        </p:txBody>
      </p:sp>
      <p:sp>
        <p:nvSpPr>
          <p:cNvPr id="16" name="Paso Implementar"/>
          <p:cNvSpPr/>
          <p:nvPr/>
        </p:nvSpPr>
        <p:spPr>
          <a:xfrm>
            <a:off x="4626864" y="1280160"/>
            <a:ext cx="1280160" cy="2194560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Minutos Implementar"/>
          <p:cNvSpPr txBox="1"/>
          <p:nvPr/>
        </p:nvSpPr>
        <p:spPr>
          <a:xfrm>
            <a:off x="4718304" y="1417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40'</a:t>
            </a:r>
            <a:endParaRPr lang="en-US" sz="3200" dirty="0"/>
          </a:p>
        </p:txBody>
      </p:sp>
      <p:sp>
        <p:nvSpPr>
          <p:cNvPr id="18" name="Nombre Implementar"/>
          <p:cNvSpPr txBox="1"/>
          <p:nvPr/>
        </p:nvSpPr>
        <p:spPr>
          <a:xfrm>
            <a:off x="4718304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Implementar</a:t>
            </a:r>
            <a:endParaRPr lang="en-US" sz="1400" dirty="0"/>
          </a:p>
        </p:txBody>
      </p:sp>
      <p:sp>
        <p:nvSpPr>
          <p:cNvPr id="19" name="Detalle Implementar"/>
          <p:cNvSpPr txBox="1"/>
          <p:nvPr/>
        </p:nvSpPr>
        <p:spPr>
          <a:xfrm>
            <a:off x="4718304" y="2606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El cambio mínimo</a:t>
            </a:r>
            <a:endParaRPr lang="en-US" sz="1200" dirty="0"/>
          </a:p>
        </p:txBody>
      </p:sp>
      <p:sp>
        <p:nvSpPr>
          <p:cNvPr id="20" name="Paso Revisar"/>
          <p:cNvSpPr/>
          <p:nvPr/>
        </p:nvSpPr>
        <p:spPr>
          <a:xfrm>
            <a:off x="6016752" y="1280160"/>
            <a:ext cx="1280160" cy="21945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Minutos Revisar"/>
          <p:cNvSpPr txBox="1"/>
          <p:nvPr/>
        </p:nvSpPr>
        <p:spPr>
          <a:xfrm>
            <a:off x="6108192" y="1417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15'</a:t>
            </a:r>
            <a:endParaRPr lang="en-US" sz="3200" dirty="0"/>
          </a:p>
        </p:txBody>
      </p:sp>
      <p:sp>
        <p:nvSpPr>
          <p:cNvPr id="22" name="Nombre Revisar"/>
          <p:cNvSpPr txBox="1"/>
          <p:nvPr/>
        </p:nvSpPr>
        <p:spPr>
          <a:xfrm>
            <a:off x="6108192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Revisar</a:t>
            </a:r>
            <a:endParaRPr lang="en-US" sz="1400" dirty="0"/>
          </a:p>
        </p:txBody>
      </p:sp>
      <p:sp>
        <p:nvSpPr>
          <p:cNvPr id="23" name="Detalle Revisar"/>
          <p:cNvSpPr txBox="1"/>
          <p:nvPr/>
        </p:nvSpPr>
        <p:spPr>
          <a:xfrm>
            <a:off x="6108192" y="2606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security-reviewer sobre el diff</a:t>
            </a:r>
            <a:endParaRPr lang="en-US" sz="1200" dirty="0"/>
          </a:p>
        </p:txBody>
      </p:sp>
      <p:sp>
        <p:nvSpPr>
          <p:cNvPr id="24" name="Paso Cerrar"/>
          <p:cNvSpPr/>
          <p:nvPr/>
        </p:nvSpPr>
        <p:spPr>
          <a:xfrm>
            <a:off x="7406640" y="1280160"/>
            <a:ext cx="1280160" cy="21945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Minutos Cerrar"/>
          <p:cNvSpPr txBox="1"/>
          <p:nvPr/>
        </p:nvSpPr>
        <p:spPr>
          <a:xfrm>
            <a:off x="7498080" y="1417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5'</a:t>
            </a:r>
            <a:endParaRPr lang="en-US" sz="3200" dirty="0"/>
          </a:p>
        </p:txBody>
      </p:sp>
      <p:sp>
        <p:nvSpPr>
          <p:cNvPr id="26" name="Nombre Cerrar"/>
          <p:cNvSpPr txBox="1"/>
          <p:nvPr/>
        </p:nvSpPr>
        <p:spPr>
          <a:xfrm>
            <a:off x="7498080" y="2194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Cerrar</a:t>
            </a:r>
            <a:endParaRPr lang="en-US" sz="1400" dirty="0"/>
          </a:p>
        </p:txBody>
      </p:sp>
      <p:sp>
        <p:nvSpPr>
          <p:cNvPr id="27" name="Detalle Cerrar"/>
          <p:cNvSpPr txBox="1"/>
          <p:nvPr/>
        </p:nvSpPr>
        <p:spPr>
          <a:xfrm>
            <a:off x="7498080" y="2606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Verde, tasks y commit</a:t>
            </a:r>
            <a:endParaRPr lang="en-US" sz="1200" dirty="0"/>
          </a:p>
        </p:txBody>
      </p:sp>
      <p:sp>
        <p:nvSpPr>
          <p:cNvPr id="28" name="Barra regla del día"/>
          <p:cNvSpPr/>
          <p:nvPr/>
        </p:nvSpPr>
        <p:spPr>
          <a:xfrm>
            <a:off x="457200" y="374904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9" name="Regla del día"/>
          <p:cNvSpPr txBox="1"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Un día termina con tests verdes, progress.py al día y un commit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Cómo se controlan sin docente</a:t>
            </a:r>
            <a:endParaRPr lang="en-US" sz="3200" dirty="0"/>
          </a:p>
        </p:txBody>
      </p:sp>
      <p:sp>
        <p:nvSpPr>
          <p:cNvPr id="4" name="Tarjeta progress.py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o progress.py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Icono progress.py texto"/>
          <p:cNvSpPr txBox="1"/>
          <p:nvPr/>
        </p:nvSpPr>
        <p:spPr>
          <a:xfrm>
            <a:off x="6858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ítulo progress.py"/>
          <p:cNvSpPr txBox="1"/>
          <p:nvPr/>
        </p:nvSpPr>
        <p:spPr>
          <a:xfrm>
            <a:off x="137160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progress.py</a:t>
            </a:r>
            <a:endParaRPr lang="en-US" sz="1800" dirty="0"/>
          </a:p>
        </p:txBody>
      </p:sp>
      <p:sp>
        <p:nvSpPr>
          <p:cNvPr id="8" name="Detalle progress.py"/>
          <p:cNvSpPr txBox="1"/>
          <p:nvPr/>
        </p:nvSpPr>
        <p:spPr>
          <a:xfrm>
            <a:off x="1371600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Tasks por change, Scenarios por spec y tests recolectados</a:t>
            </a:r>
            <a:endParaRPr lang="en-US" sz="1400" dirty="0"/>
          </a:p>
        </p:txBody>
      </p:sp>
      <p:sp>
        <p:nvSpPr>
          <p:cNvPr id="9" name="Tarjeta Mutación manual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o Mutación manual"/>
          <p:cNvSpPr/>
          <p:nvPr/>
        </p:nvSpPr>
        <p:spPr>
          <a:xfrm>
            <a:off x="4892040" y="15544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Icono Mutación manual texto"/>
          <p:cNvSpPr txBox="1"/>
          <p:nvPr/>
        </p:nvSpPr>
        <p:spPr>
          <a:xfrm>
            <a:off x="48920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ítulo Mutación manual"/>
          <p:cNvSpPr txBox="1"/>
          <p:nvPr/>
        </p:nvSpPr>
        <p:spPr>
          <a:xfrm>
            <a:off x="557784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Mutación manual</a:t>
            </a:r>
            <a:endParaRPr lang="en-US" sz="1800" dirty="0"/>
          </a:p>
        </p:txBody>
      </p:sp>
      <p:sp>
        <p:nvSpPr>
          <p:cNvPr id="13" name="Detalle Mutación manual"/>
          <p:cNvSpPr txBox="1"/>
          <p:nvPr/>
        </p:nvSpPr>
        <p:spPr>
          <a:xfrm>
            <a:off x="5577840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Romper el guard a propósito: si los tests siguen verdes, no sirven</a:t>
            </a:r>
            <a:endParaRPr lang="en-US" sz="1400" dirty="0"/>
          </a:p>
        </p:txBody>
      </p:sp>
      <p:sp>
        <p:nvSpPr>
          <p:cNvPr id="14" name="Tarjeta Red team del guard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o Red team del guard"/>
          <p:cNvSpPr/>
          <p:nvPr/>
        </p:nvSpPr>
        <p:spPr>
          <a:xfrm>
            <a:off x="685800" y="324612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Icono Red team del guard texto"/>
          <p:cNvSpPr txBox="1"/>
          <p:nvPr/>
        </p:nvSpPr>
        <p:spPr>
          <a:xfrm>
            <a:off x="6858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ítulo Red team del guard"/>
          <p:cNvSpPr txBox="1"/>
          <p:nvPr/>
        </p:nvSpPr>
        <p:spPr>
          <a:xfrm>
            <a:off x="137160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Red team del guard</a:t>
            </a:r>
            <a:endParaRPr lang="en-US" sz="1800" dirty="0"/>
          </a:p>
        </p:txBody>
      </p:sp>
      <p:sp>
        <p:nvSpPr>
          <p:cNvPr id="18" name="Detalle Red team del guard"/>
          <p:cNvSpPr txBox="1"/>
          <p:nvPr/>
        </p:nvSpPr>
        <p:spPr>
          <a:xfrm>
            <a:off x="137160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Diez intentos de evasión convertidos en tests y correcciones</a:t>
            </a:r>
            <a:endParaRPr lang="en-US" sz="1400" dirty="0"/>
          </a:p>
        </p:txBody>
      </p:sp>
      <p:sp>
        <p:nvSpPr>
          <p:cNvPr id="19" name="Tarjeta security-reviewer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o security-reviewer"/>
          <p:cNvSpPr/>
          <p:nvPr/>
        </p:nvSpPr>
        <p:spPr>
          <a:xfrm>
            <a:off x="4892040" y="32461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Icono security-reviewer texto"/>
          <p:cNvSpPr txBox="1"/>
          <p:nvPr/>
        </p:nvSpPr>
        <p:spPr>
          <a:xfrm>
            <a:off x="48920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ítulo security-reviewer"/>
          <p:cNvSpPr txBox="1"/>
          <p:nvPr/>
        </p:nvSpPr>
        <p:spPr>
          <a:xfrm>
            <a:off x="557784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security-reviewer</a:t>
            </a:r>
            <a:endParaRPr lang="en-US" sz="1800" dirty="0"/>
          </a:p>
        </p:txBody>
      </p:sp>
      <p:sp>
        <p:nvSpPr>
          <p:cNvPr id="23" name="Detalle security-reviewer"/>
          <p:cNvSpPr txBox="1"/>
          <p:nvPr/>
        </p:nvSpPr>
        <p:spPr>
          <a:xfrm>
            <a:off x="557784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Revisión independiente del diff antes de cerrar cada change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Dónde está todo: repo y documentos</a:t>
            </a:r>
            <a:endParaRPr lang="en-US" sz="3200" dirty="0"/>
          </a:p>
        </p:txBody>
      </p:sp>
      <p:sp>
        <p:nvSpPr>
          <p:cNvPr id="4" name="Bajada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Todo vive en el repositorio del curso. Arrancá por el enunciado y el plan; abrí el primer change para empezar a construir.</a:t>
            </a:r>
            <a:endParaRPr lang="en-US" sz="1500" dirty="0"/>
          </a:p>
        </p:txBody>
      </p:sp>
      <p:sp>
        <p:nvSpPr>
          <p:cNvPr id="5" name="Vineta 0"/>
          <p:cNvSpPr/>
          <p:nvPr/>
        </p:nvSpPr>
        <p:spPr>
          <a:xfrm>
            <a:off x="502920" y="180136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Vineta 0 texto"/>
          <p:cNvSpPr txBox="1"/>
          <p:nvPr/>
        </p:nvSpPr>
        <p:spPr>
          <a:xfrm>
            <a:off x="502920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▸</a:t>
            </a:r>
            <a:endParaRPr lang="en-US" sz="1100" dirty="0"/>
          </a:p>
        </p:txBody>
      </p:sp>
      <p:sp>
        <p:nvSpPr>
          <p:cNvPr id="7" name="Link 0">
            <a:hlinkClick r:id="rId1" tooltip="Repositorio del TP  ·  carpeta ptaas-kit"/>
          </p:cNvPr>
          <p:cNvSpPr txBox="1"/>
          <p:nvPr/>
        </p:nvSpPr>
        <p:spPr>
          <a:xfrm>
            <a:off x="914400" y="1783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1"/>
                </a:solidFill>
                <a:hlinkClick r:id="rId1" invalidUrl="" action="" tgtFrame="" tooltip="Repositorio del TP  ·  carpeta ptaas-ki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Repositorio del TP  ·  carpeta ptaas-kit</a:t>
            </a:r>
            <a:endParaRPr lang="en-US" sz="1400" dirty="0"/>
          </a:p>
        </p:txBody>
      </p:sp>
      <p:sp>
        <p:nvSpPr>
          <p:cNvPr id="8" name="Vineta 1"/>
          <p:cNvSpPr/>
          <p:nvPr/>
        </p:nvSpPr>
        <p:spPr>
          <a:xfrm>
            <a:off x="502920" y="2221992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Vineta 1 texto"/>
          <p:cNvSpPr txBox="1"/>
          <p:nvPr/>
        </p:nvSpPr>
        <p:spPr>
          <a:xfrm>
            <a:off x="502920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▸</a:t>
            </a:r>
            <a:endParaRPr lang="en-US" sz="1100" dirty="0"/>
          </a:p>
        </p:txBody>
      </p:sp>
      <p:sp>
        <p:nvSpPr>
          <p:cNvPr id="10" name="Link 1">
            <a:hlinkClick r:id="rId2" tooltip="Enunciado para alumnos  ·  qué hay que entregar"/>
          </p:cNvPr>
          <p:cNvSpPr txBox="1"/>
          <p:nvPr/>
        </p:nvSpPr>
        <p:spPr>
          <a:xfrm>
            <a:off x="914400" y="220370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5"/>
                </a:solidFill>
                <a:hlinkClick r:id="rId2" invalidUrl="" action="" tgtFrame="" tooltip="Enunciado para alumnos  ·  qué hay que entrega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Enunciado para alumnos  ·  qué hay que entregar</a:t>
            </a:r>
            <a:endParaRPr lang="en-US" sz="1400" dirty="0"/>
          </a:p>
        </p:txBody>
      </p:sp>
      <p:sp>
        <p:nvSpPr>
          <p:cNvPr id="11" name="Vineta 2"/>
          <p:cNvSpPr/>
          <p:nvPr/>
        </p:nvSpPr>
        <p:spPr>
          <a:xfrm>
            <a:off x="502920" y="2642616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Vineta 2 texto"/>
          <p:cNvSpPr txBox="1"/>
          <p:nvPr/>
        </p:nvSpPr>
        <p:spPr>
          <a:xfrm>
            <a:off x="502920" y="2642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▸</a:t>
            </a:r>
            <a:endParaRPr lang="en-US" sz="1100" dirty="0"/>
          </a:p>
        </p:txBody>
      </p:sp>
      <p:sp>
        <p:nvSpPr>
          <p:cNvPr id="13" name="Link 2">
            <a:hlinkClick r:id="rId3" tooltip="Marco teórico  ·  guía de construcción de punta a punta"/>
          </p:cNvPr>
          <p:cNvSpPr txBox="1"/>
          <p:nvPr/>
        </p:nvSpPr>
        <p:spPr>
          <a:xfrm>
            <a:off x="914400" y="26243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5"/>
                </a:solidFill>
                <a:hlinkClick r:id="rId3" invalidUrl="" action="" tgtFrame="" tooltip="Marco teórico  ·  guía de construcción de punta a punta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Marco teórico  ·  guía de construcción de punta a punta</a:t>
            </a:r>
            <a:endParaRPr lang="en-US" sz="1400" dirty="0"/>
          </a:p>
        </p:txBody>
      </p:sp>
      <p:sp>
        <p:nvSpPr>
          <p:cNvPr id="14" name="Vineta 3"/>
          <p:cNvSpPr/>
          <p:nvPr/>
        </p:nvSpPr>
        <p:spPr>
          <a:xfrm>
            <a:off x="502920" y="306324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Vineta 3 texto"/>
          <p:cNvSpPr txBox="1"/>
          <p:nvPr/>
        </p:nvSpPr>
        <p:spPr>
          <a:xfrm>
            <a:off x="5029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▸</a:t>
            </a:r>
            <a:endParaRPr lang="en-US" sz="1100" dirty="0"/>
          </a:p>
        </p:txBody>
      </p:sp>
      <p:sp>
        <p:nvSpPr>
          <p:cNvPr id="16" name="Link 3">
            <a:hlinkClick r:id="rId4" tooltip="Plan de 15 días  ·  3 sprints con checkpoints"/>
          </p:cNvPr>
          <p:cNvSpPr txBox="1"/>
          <p:nvPr/>
        </p:nvSpPr>
        <p:spPr>
          <a:xfrm>
            <a:off x="914400" y="30449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2"/>
                </a:solidFill>
                <a:hlinkClick r:id="rId4" invalidUrl="" action="" tgtFrame="" tooltip="Plan de 15 días  ·  3 sprints con checkpoint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 de 15 días  ·  3 sprints con checkpoints</a:t>
            </a:r>
            <a:endParaRPr lang="en-US" sz="1400" dirty="0"/>
          </a:p>
        </p:txBody>
      </p:sp>
      <p:sp>
        <p:nvSpPr>
          <p:cNvPr id="17" name="Vineta 4"/>
          <p:cNvSpPr/>
          <p:nvPr/>
        </p:nvSpPr>
        <p:spPr>
          <a:xfrm>
            <a:off x="502920" y="3483864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Vineta 4 texto"/>
          <p:cNvSpPr txBox="1"/>
          <p:nvPr/>
        </p:nvSpPr>
        <p:spPr>
          <a:xfrm>
            <a:off x="502920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▸</a:t>
            </a:r>
            <a:endParaRPr lang="en-US" sz="1100" dirty="0"/>
          </a:p>
        </p:txBody>
      </p:sp>
      <p:sp>
        <p:nvSpPr>
          <p:cNvPr id="19" name="Link 4">
            <a:hlinkClick r:id="rId5" tooltip="Rúbrica de evaluación  ·  cómo se corrige"/>
          </p:cNvPr>
          <p:cNvSpPr txBox="1"/>
          <p:nvPr/>
        </p:nvSpPr>
        <p:spPr>
          <a:xfrm>
            <a:off x="914400" y="346557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3"/>
                </a:solidFill>
                <a:hlinkClick r:id="rId5" invalidUrl="" action="" tgtFrame="" tooltip="Rúbrica de evaluación  ·  cómo se corrig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Rúbrica de evaluación  ·  cómo se corrige</a:t>
            </a:r>
            <a:endParaRPr lang="en-US" sz="1400" dirty="0"/>
          </a:p>
        </p:txBody>
      </p:sp>
      <p:sp>
        <p:nvSpPr>
          <p:cNvPr id="20" name="Vineta 5"/>
          <p:cNvSpPr/>
          <p:nvPr/>
        </p:nvSpPr>
        <p:spPr>
          <a:xfrm>
            <a:off x="502920" y="390448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Vineta 5 texto"/>
          <p:cNvSpPr txBox="1"/>
          <p:nvPr/>
        </p:nvSpPr>
        <p:spPr>
          <a:xfrm>
            <a:off x="502920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▸</a:t>
            </a:r>
            <a:endParaRPr lang="en-US" sz="1100" dirty="0"/>
          </a:p>
        </p:txBody>
      </p:sp>
      <p:sp>
        <p:nvSpPr>
          <p:cNvPr id="22" name="Link 5">
            <a:hlinkClick r:id="rId6" tooltip="Cómo trabajar con Claude Code u opencode"/>
          </p:cNvPr>
          <p:cNvSpPr txBox="1"/>
          <p:nvPr/>
        </p:nvSpPr>
        <p:spPr>
          <a:xfrm>
            <a:off x="914400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1"/>
                </a:solidFill>
                <a:hlinkClick r:id="rId6" invalidUrl="" action="" tgtFrame="" tooltip="Cómo trabajar con Claude Code u opencod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Cómo trabajar con Claude Code u opencode</a:t>
            </a:r>
            <a:endParaRPr lang="en-US" sz="1400" dirty="0"/>
          </a:p>
        </p:txBody>
      </p:sp>
      <p:sp>
        <p:nvSpPr>
          <p:cNvPr id="23" name="Vineta 6"/>
          <p:cNvSpPr/>
          <p:nvPr/>
        </p:nvSpPr>
        <p:spPr>
          <a:xfrm>
            <a:off x="502920" y="4325112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Vineta 6 texto"/>
          <p:cNvSpPr txBox="1"/>
          <p:nvPr/>
        </p:nvSpPr>
        <p:spPr>
          <a:xfrm>
            <a:off x="502920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▸</a:t>
            </a:r>
            <a:endParaRPr lang="en-US" sz="1100" dirty="0"/>
          </a:p>
        </p:txBody>
      </p:sp>
      <p:sp>
        <p:nvSpPr>
          <p:cNvPr id="25" name="Link 6">
            <a:hlinkClick r:id="rId7" tooltip="Arranque  ·  primer change (tasks.md del MVP)"/>
          </p:cNvPr>
          <p:cNvSpPr txBox="1"/>
          <p:nvPr/>
        </p:nvSpPr>
        <p:spPr>
          <a:xfrm>
            <a:off x="914400" y="430682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chemeClr val="accent4"/>
                </a:solidFill>
                <a:hlinkClick r:id="rId7" invalidUrl="" action="" tgtFrame="" tooltip="Arranque  ·  primer change (tasks.md del MVP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Arranque  ·  primer change (tasks.md del MVP)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Cómo arrancar: Claude Code u opencode</a:t>
            </a:r>
            <a:endParaRPr lang="en-US" sz="3200" dirty="0"/>
          </a:p>
        </p:txBody>
      </p:sp>
      <p:sp>
        <p:nvSpPr>
          <p:cNvPr id="4" name="Bajada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Elegí el agente que quieras. Las reglas del proyecto son las mismas; cambia de qué archivo las lee.</a:t>
            </a:r>
            <a:endParaRPr lang="en-US" sz="1500" dirty="0"/>
          </a:p>
        </p:txBody>
      </p:sp>
      <p:sp>
        <p:nvSpPr>
          <p:cNvPr id="5" name="Agente 0"/>
          <p:cNvSpPr/>
          <p:nvPr/>
        </p:nvSpPr>
        <p:spPr>
          <a:xfrm>
            <a:off x="457200" y="1691640"/>
            <a:ext cx="39319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unto 0"/>
          <p:cNvSpPr/>
          <p:nvPr/>
        </p:nvSpPr>
        <p:spPr>
          <a:xfrm>
            <a:off x="685800" y="18745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unto 0 texto"/>
          <p:cNvSpPr txBox="1"/>
          <p:nvPr/>
        </p:nvSpPr>
        <p:spPr>
          <a:xfrm>
            <a:off x="6858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Nombre 0"/>
          <p:cNvSpPr txBox="1"/>
          <p:nvPr/>
        </p:nvSpPr>
        <p:spPr>
          <a:xfrm>
            <a:off x="1188720" y="19019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900" dirty="0"/>
          </a:p>
        </p:txBody>
      </p:sp>
      <p:sp>
        <p:nvSpPr>
          <p:cNvPr id="9" name="Lee 0"/>
          <p:cNvSpPr txBox="1"/>
          <p:nvPr/>
        </p:nvSpPr>
        <p:spPr>
          <a:xfrm>
            <a:off x="118872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lee CLAUDE.md</a:t>
            </a:r>
            <a:endParaRPr lang="en-US" sz="1100" dirty="0"/>
          </a:p>
        </p:txBody>
      </p:sp>
      <p:sp>
        <p:nvSpPr>
          <p:cNvPr id="10" name="Cmd 0"/>
          <p:cNvSpPr txBox="1"/>
          <p:nvPr/>
        </p:nvSpPr>
        <p:spPr>
          <a:xfrm>
            <a:off x="685800" y="2697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ptaas-kit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Implementá el change 001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siguiendo su tasks.md</a:t>
            </a:r>
            <a:endParaRPr lang="en-US" sz="1250" dirty="0"/>
          </a:p>
        </p:txBody>
      </p:sp>
      <p:sp>
        <p:nvSpPr>
          <p:cNvPr id="11" name="Agente 1"/>
          <p:cNvSpPr/>
          <p:nvPr/>
        </p:nvSpPr>
        <p:spPr>
          <a:xfrm>
            <a:off x="4754880" y="1691640"/>
            <a:ext cx="39319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unto 1"/>
          <p:cNvSpPr/>
          <p:nvPr/>
        </p:nvSpPr>
        <p:spPr>
          <a:xfrm>
            <a:off x="4983480" y="187452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Punto 1 texto"/>
          <p:cNvSpPr txBox="1"/>
          <p:nvPr/>
        </p:nvSpPr>
        <p:spPr>
          <a:xfrm>
            <a:off x="49834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Nombre 1"/>
          <p:cNvSpPr txBox="1"/>
          <p:nvPr/>
        </p:nvSpPr>
        <p:spPr>
          <a:xfrm>
            <a:off x="5486400" y="19019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opencode</a:t>
            </a:r>
            <a:endParaRPr lang="en-US" sz="1900" dirty="0"/>
          </a:p>
        </p:txBody>
      </p:sp>
      <p:sp>
        <p:nvSpPr>
          <p:cNvPr id="15" name="Lee 1"/>
          <p:cNvSpPr txBox="1"/>
          <p:nvPr/>
        </p:nvSpPr>
        <p:spPr>
          <a:xfrm>
            <a:off x="548640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lee AGENTS.md + opencode.json</a:t>
            </a:r>
            <a:endParaRPr lang="en-US" sz="1100" dirty="0"/>
          </a:p>
        </p:txBody>
      </p:sp>
      <p:sp>
        <p:nvSpPr>
          <p:cNvPr id="16" name="Cmd 1"/>
          <p:cNvSpPr txBox="1"/>
          <p:nvPr/>
        </p:nvSpPr>
        <p:spPr>
          <a:xfrm>
            <a:off x="4983480" y="2697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ptaas-kit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Implementá el change 001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siguiendo su tasks.md</a:t>
            </a:r>
            <a:endParaRPr lang="en-US" sz="1250" dirty="0"/>
          </a:p>
        </p:txBody>
      </p:sp>
      <p:sp>
        <p:nvSpPr>
          <p:cNvPr id="17" name="Nota seguridad"/>
          <p:cNvSpPr/>
          <p:nvPr/>
        </p:nvSpPr>
        <p:spPr>
          <a:xfrm>
            <a:off x="457200" y="402336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accent6">
              <a:alpha val="18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Nota"/>
          <p:cNvSpPr txBox="1"/>
          <p:nvPr/>
        </p:nvSpPr>
        <p:spPr>
          <a:xfrm>
            <a:off x="685800" y="413308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 seguridad no depende del agente: el Scope Guard, el token de alcance y la bitácora viven en el harness (código determinista) y los valida el CI.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Reglas del juego</a:t>
            </a:r>
            <a:endParaRPr lang="en-US" sz="3200" dirty="0"/>
          </a:p>
        </p:txBody>
      </p:sp>
      <p:sp>
        <p:nvSpPr>
          <p:cNvPr id="4" name="Prohibido 1"/>
          <p:cNvSpPr/>
          <p:nvPr/>
        </p:nvSpPr>
        <p:spPr>
          <a:xfrm>
            <a:off x="457200" y="123444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Prohibido 1 texto"/>
          <p:cNvSpPr txBox="1"/>
          <p:nvPr/>
        </p:nvSpPr>
        <p:spPr>
          <a:xfrm>
            <a:off x="45720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✕</a:t>
            </a:r>
            <a:endParaRPr lang="en-US" sz="1400" dirty="0"/>
          </a:p>
        </p:txBody>
      </p:sp>
      <p:sp>
        <p:nvSpPr>
          <p:cNvPr id="6" name="Regla 1"/>
          <p:cNvSpPr txBox="1"/>
          <p:nvPr/>
        </p:nvSpPr>
        <p:spPr>
          <a:xfrm>
            <a:off x="1097280" y="1234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Nada contra sistemas que no sean el laboratorio propio</a:t>
            </a:r>
            <a:endParaRPr lang="en-US" sz="1500" dirty="0"/>
          </a:p>
        </p:txBody>
      </p:sp>
      <p:sp>
        <p:nvSpPr>
          <p:cNvPr id="7" name="Prohibido 2"/>
          <p:cNvSpPr/>
          <p:nvPr/>
        </p:nvSpPr>
        <p:spPr>
          <a:xfrm>
            <a:off x="457200" y="192024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Prohibido 2 texto"/>
          <p:cNvSpPr txBox="1"/>
          <p:nvPr/>
        </p:nvSpPr>
        <p:spPr>
          <a:xfrm>
            <a:off x="45720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✕</a:t>
            </a:r>
            <a:endParaRPr lang="en-US" sz="1400" dirty="0"/>
          </a:p>
        </p:txBody>
      </p:sp>
      <p:sp>
        <p:nvSpPr>
          <p:cNvPr id="9" name="Regla 2"/>
          <p:cNvSpPr txBox="1"/>
          <p:nvPr/>
        </p:nvSpPr>
        <p:spPr>
          <a:xfrm>
            <a:off x="109728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Ninguna acción sin scope token y sin bitácora</a:t>
            </a:r>
            <a:endParaRPr lang="en-US" sz="1500" dirty="0"/>
          </a:p>
        </p:txBody>
      </p:sp>
      <p:sp>
        <p:nvSpPr>
          <p:cNvPr id="10" name="Prohibido 3"/>
          <p:cNvSpPr/>
          <p:nvPr/>
        </p:nvSpPr>
        <p:spPr>
          <a:xfrm>
            <a:off x="457200" y="260604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Prohibido 3 texto"/>
          <p:cNvSpPr txBox="1"/>
          <p:nvPr/>
        </p:nvSpPr>
        <p:spPr>
          <a:xfrm>
            <a:off x="4572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✕</a:t>
            </a:r>
            <a:endParaRPr lang="en-US" sz="1400" dirty="0"/>
          </a:p>
        </p:txBody>
      </p:sp>
      <p:sp>
        <p:nvSpPr>
          <p:cNvPr id="12" name="Regla 3"/>
          <p:cNvSpPr txBox="1"/>
          <p:nvPr/>
        </p:nvSpPr>
        <p:spPr>
          <a:xfrm>
            <a:off x="109728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Sin generar exploits nuevos: solo verificaciones del catálogo</a:t>
            </a:r>
            <a:endParaRPr lang="en-US" sz="1500" dirty="0"/>
          </a:p>
        </p:txBody>
      </p:sp>
      <p:sp>
        <p:nvSpPr>
          <p:cNvPr id="13" name="Prohibido 4"/>
          <p:cNvSpPr/>
          <p:nvPr/>
        </p:nvSpPr>
        <p:spPr>
          <a:xfrm>
            <a:off x="457200" y="329184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Prohibido 4 texto"/>
          <p:cNvSpPr txBox="1"/>
          <p:nvPr/>
        </p:nvSpPr>
        <p:spPr>
          <a:xfrm>
            <a:off x="4572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✕</a:t>
            </a:r>
            <a:endParaRPr lang="en-US" sz="1400" dirty="0"/>
          </a:p>
        </p:txBody>
      </p:sp>
      <p:sp>
        <p:nvSpPr>
          <p:cNvPr id="15" name="Regla 4"/>
          <p:cNvSpPr txBox="1"/>
          <p:nvPr/>
        </p:nvSpPr>
        <p:spPr>
          <a:xfrm>
            <a:off x="1097280" y="3291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Sin saltear los gates humanos</a:t>
            </a:r>
            <a:endParaRPr lang="en-US" sz="1500" dirty="0"/>
          </a:p>
        </p:txBody>
      </p:sp>
      <p:sp>
        <p:nvSpPr>
          <p:cNvPr id="16" name="Tarjeta pregunta"/>
          <p:cNvSpPr/>
          <p:nvPr/>
        </p:nvSpPr>
        <p:spPr>
          <a:xfrm>
            <a:off x="6035040" y="123444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Pregunta"/>
          <p:cNvSpPr txBox="1"/>
          <p:nvPr/>
        </p:nvSpPr>
        <p:spPr>
          <a:xfrm>
            <a:off x="6263640" y="146304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invariante tiene que cumplir tu sistema aunque el agente se equivoque?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TaaS Ink">
  <a:themeElements>
    <a:clrScheme name="PTaaS Ink">
      <a:dk1>
        <a:srgbClr val="101820"/>
      </a:dk1>
      <a:lt1>
        <a:srgbClr val="FFFFFF"/>
      </a:lt1>
      <a:dk2>
        <a:srgbClr val="1F3B4D"/>
      </a:dk2>
      <a:lt2>
        <a:srgbClr val="EEF2F5"/>
      </a:lt2>
      <a:accent1>
        <a:srgbClr val="0E9F8E"/>
      </a:accent1>
      <a:accent2>
        <a:srgbClr val="F2A900"/>
      </a:accent2>
      <a:accent3>
        <a:srgbClr val="D64550"/>
      </a:accent3>
      <a:accent4>
        <a:srgbClr val="5B7C99"/>
      </a:accent4>
      <a:accent5>
        <a:srgbClr val="7A5CFA"/>
      </a:accent5>
      <a:accent6>
        <a:srgbClr val="2E7D32"/>
      </a:accent6>
      <a:hlink>
        <a:srgbClr val="0E9F8E"/>
      </a:hlink>
      <a:folHlink>
        <a:srgbClr val="5B7C99"/>
      </a:folHlink>
    </a:clrScheme>
    <a:fontScheme name="PTaaS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PTaaS — El desafío</dc:title>
  <dc:subject>PptxGenJS Presentation</dc:subject>
  <dc:creator>Fernando Boiero</dc:creator>
  <cp:lastModifiedBy>Fernando Boiero</cp:lastModifiedBy>
  <cp:revision>1</cp:revision>
  <dcterms:created xsi:type="dcterms:W3CDTF">2026-10-30T21:40:52Z</dcterms:created>
  <dcterms:modified xsi:type="dcterms:W3CDTF">2026-10-30T21:40:52Z</dcterms:modified>
</cp:coreProperties>
</file>